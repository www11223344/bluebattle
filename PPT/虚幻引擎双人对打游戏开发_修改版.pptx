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0-1.jpg" ContentType="image/jpg"/>
  <Override PartName="/ppt/media/image-10-2.jpg" ContentType="image/jpg"/>
  <Override PartName="/ppt/media/image-11-1.jpg" ContentType="image/jpg"/>
  <Override PartName="/ppt/media/image-11-2.jpg" ContentType="image/jpg"/>
  <Override PartName="/ppt/media/image-11-3.jpg" ContentType="image/jpg"/>
  <Override PartName="/ppt/media/image-16-1.jpg" ContentType="image/jpg"/>
  <Override PartName="/ppt/media/image-16-2.jpg" ContentType="image/jpg"/>
  <Override PartName="/ppt/media/image-16-3.jpg" ContentType="image/jpg"/>
  <Override PartName="/ppt/media/image-4-1.jpg" ContentType="image/jpg"/>
  <Override PartName="/ppt/media/image-8-1.jpg" ContentType="image/jpg"/>
  <Override PartName="/ppt/media/image-8-2.jpg" ContentType="image/jpg"/>
  <Override PartName="/ppt/media/image-9-1.jpg" ContentType="image/jpg"/>
  <Override PartName="/ppt/media/image-9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24"/>
    <p:sldId id="265" r:id="rId11"/>
    <p:sldId id="266" r:id="rId12"/>
    <p:sldId id="274" r:id="rId25"/>
    <p:sldId id="267" r:id="rId13"/>
    <p:sldId id="268" r:id="rId14"/>
    <p:sldId id="269" r:id="rId15"/>
    <p:sldId id="270" r:id="rId16"/>
    <p:sldId id="275" r:id="rId26"/>
    <p:sldId id="271" r:id="rId17"/>
    <p:sldId id="272" r:id="rId18"/>
  </p:sldIdLst>
  <p:notesMasterIdLst>
    <p:notesMasterId r:id="rId19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0.xml"/><Relationship Id="rId25" Type="http://schemas.openxmlformats.org/officeDocument/2006/relationships/slide" Target="slides/slide13.xml"/><Relationship Id="rId2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ua5fzklftops/mnt/agents/output/ue_fighting_game/images/3_Unreal_Engine_5_PC_Game_Develop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70000"/>
                </a:srgbClr>
              </a:gs>
              <a:gs pos="100000">
                <a:srgbClr val="0F1923">
                  <a:alpha val="95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D4773E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556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虚幻引擎双人对打游戏开发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048000" y="4572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基于蓝图可视化编程的格斗游戏项目实践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83000" y="520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技术架构与核心算法解析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128000"/>
            <a:ext cx="14732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8255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UE5 Blueprint | Fighting Game Project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77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3365500" cy="6096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16000" y="29210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342900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双人对打游戏功能全景与蓝图类结构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16000" y="711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55600" y="63500"/>
                </a:moveTo>
                <a:cubicBezTo>
                  <a:pt x="439738" y="63500"/>
                  <a:pt x="508000" y="148828"/>
                  <a:pt x="508000" y="254000"/>
                </a:cubicBezTo>
                <a:cubicBezTo>
                  <a:pt x="508000" y="359172"/>
                  <a:pt x="439738" y="444500"/>
                  <a:pt x="355600" y="444500"/>
                </a:cubicBezTo>
                <a:lnTo>
                  <a:pt x="152400" y="444500"/>
                </a:lnTo>
                <a:cubicBezTo>
                  <a:pt x="68263" y="444500"/>
                  <a:pt x="0" y="359172"/>
                  <a:pt x="0" y="254000"/>
                </a:cubicBezTo>
                <a:cubicBezTo>
                  <a:pt x="0" y="148828"/>
                  <a:pt x="68263" y="63500"/>
                  <a:pt x="152400" y="63500"/>
                </a:cubicBezTo>
                <a:lnTo>
                  <a:pt x="355600" y="63500"/>
                </a:lnTo>
                <a:close/>
                <a:moveTo>
                  <a:pt x="152400" y="174625"/>
                </a:moveTo>
                <a:cubicBezTo>
                  <a:pt x="141843" y="174625"/>
                  <a:pt x="133350" y="185241"/>
                  <a:pt x="133350" y="198438"/>
                </a:cubicBezTo>
                <a:lnTo>
                  <a:pt x="133350" y="230188"/>
                </a:lnTo>
                <a:lnTo>
                  <a:pt x="107950" y="230188"/>
                </a:lnTo>
                <a:cubicBezTo>
                  <a:pt x="97393" y="230188"/>
                  <a:pt x="88900" y="240804"/>
                  <a:pt x="88900" y="254000"/>
                </a:cubicBezTo>
                <a:cubicBezTo>
                  <a:pt x="88900" y="267196"/>
                  <a:pt x="97393" y="277813"/>
                  <a:pt x="107950" y="277813"/>
                </a:cubicBezTo>
                <a:lnTo>
                  <a:pt x="133350" y="277813"/>
                </a:lnTo>
                <a:lnTo>
                  <a:pt x="133350" y="309562"/>
                </a:lnTo>
                <a:cubicBezTo>
                  <a:pt x="133350" y="322759"/>
                  <a:pt x="141843" y="333375"/>
                  <a:pt x="152400" y="333375"/>
                </a:cubicBezTo>
                <a:cubicBezTo>
                  <a:pt x="162957" y="333375"/>
                  <a:pt x="171450" y="322759"/>
                  <a:pt x="171450" y="309562"/>
                </a:cubicBezTo>
                <a:lnTo>
                  <a:pt x="171450" y="277813"/>
                </a:lnTo>
                <a:lnTo>
                  <a:pt x="196850" y="277813"/>
                </a:lnTo>
                <a:cubicBezTo>
                  <a:pt x="207407" y="277813"/>
                  <a:pt x="215900" y="267196"/>
                  <a:pt x="215900" y="254000"/>
                </a:cubicBezTo>
                <a:cubicBezTo>
                  <a:pt x="215900" y="240804"/>
                  <a:pt x="207407" y="230188"/>
                  <a:pt x="196850" y="230188"/>
                </a:cubicBezTo>
                <a:lnTo>
                  <a:pt x="171450" y="230188"/>
                </a:lnTo>
                <a:lnTo>
                  <a:pt x="171450" y="198438"/>
                </a:lnTo>
                <a:cubicBezTo>
                  <a:pt x="171450" y="185241"/>
                  <a:pt x="162957" y="174625"/>
                  <a:pt x="152400" y="174625"/>
                </a:cubicBezTo>
                <a:close/>
                <a:moveTo>
                  <a:pt x="342900" y="269875"/>
                </a:moveTo>
                <a:cubicBezTo>
                  <a:pt x="328881" y="269875"/>
                  <a:pt x="317500" y="284102"/>
                  <a:pt x="317500" y="301625"/>
                </a:cubicBezTo>
                <a:cubicBezTo>
                  <a:pt x="317500" y="319148"/>
                  <a:pt x="328881" y="333375"/>
                  <a:pt x="342900" y="333375"/>
                </a:cubicBezTo>
                <a:cubicBezTo>
                  <a:pt x="356919" y="333375"/>
                  <a:pt x="368300" y="319148"/>
                  <a:pt x="368300" y="301625"/>
                </a:cubicBezTo>
                <a:cubicBezTo>
                  <a:pt x="368300" y="284102"/>
                  <a:pt x="356919" y="269875"/>
                  <a:pt x="342900" y="269875"/>
                </a:cubicBezTo>
                <a:close/>
                <a:moveTo>
                  <a:pt x="393700" y="174625"/>
                </a:moveTo>
                <a:cubicBezTo>
                  <a:pt x="379681" y="174625"/>
                  <a:pt x="368300" y="188852"/>
                  <a:pt x="368300" y="206375"/>
                </a:cubicBezTo>
                <a:cubicBezTo>
                  <a:pt x="368300" y="223898"/>
                  <a:pt x="379681" y="238125"/>
                  <a:pt x="393700" y="238125"/>
                </a:cubicBezTo>
                <a:cubicBezTo>
                  <a:pt x="407719" y="238125"/>
                  <a:pt x="419100" y="223898"/>
                  <a:pt x="419100" y="206375"/>
                </a:cubicBezTo>
                <a:cubicBezTo>
                  <a:pt x="419100" y="188852"/>
                  <a:pt x="407719" y="174625"/>
                  <a:pt x="393700" y="174625"/>
                </a:cubicBez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9" name="Shape 7"/>
          <p:cNvSpPr/>
          <p:nvPr/>
        </p:nvSpPr>
        <p:spPr>
          <a:xfrm>
            <a:off x="4508500" y="1778000"/>
            <a:ext cx="3365500" cy="6096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0" name="Text 8"/>
          <p:cNvSpPr/>
          <p:nvPr/>
        </p:nvSpPr>
        <p:spPr>
          <a:xfrm>
            <a:off x="47625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62500" y="29210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技术架构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62500" y="342900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蓝图设计与系统模块化架构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62500" y="711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55000" y="1778000"/>
            <a:ext cx="3365500" cy="6096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509000" y="29210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核心算法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9000" y="342900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Phong光照与BVH加速结构原理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9000" y="711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7" y="0"/>
                </a:moveTo>
                <a:cubicBezTo>
                  <a:pt x="37968" y="0"/>
                  <a:pt x="0" y="28476"/>
                  <a:pt x="0" y="63500"/>
                </a:cubicBezTo>
                <a:lnTo>
                  <a:pt x="0" y="444500"/>
                </a:lnTo>
                <a:cubicBezTo>
                  <a:pt x="0" y="479524"/>
                  <a:pt x="37968" y="508000"/>
                  <a:pt x="84667" y="508000"/>
                </a:cubicBezTo>
                <a:lnTo>
                  <a:pt x="423333" y="508000"/>
                </a:lnTo>
                <a:cubicBezTo>
                  <a:pt x="470032" y="508000"/>
                  <a:pt x="508000" y="479524"/>
                  <a:pt x="508000" y="444500"/>
                </a:cubicBezTo>
                <a:lnTo>
                  <a:pt x="508000" y="63500"/>
                </a:lnTo>
                <a:cubicBezTo>
                  <a:pt x="508000" y="28476"/>
                  <a:pt x="470032" y="0"/>
                  <a:pt x="423333" y="0"/>
                </a:cubicBezTo>
                <a:lnTo>
                  <a:pt x="84667" y="0"/>
                </a:lnTo>
                <a:close/>
                <a:moveTo>
                  <a:pt x="127000" y="63500"/>
                </a:moveTo>
                <a:lnTo>
                  <a:pt x="381000" y="63500"/>
                </a:lnTo>
                <a:cubicBezTo>
                  <a:pt x="404416" y="63500"/>
                  <a:pt x="423333" y="77688"/>
                  <a:pt x="423333" y="95250"/>
                </a:cubicBezTo>
                <a:lnTo>
                  <a:pt x="423333" y="127000"/>
                </a:lnTo>
                <a:cubicBezTo>
                  <a:pt x="423333" y="144562"/>
                  <a:pt x="404416" y="158750"/>
                  <a:pt x="381000" y="158750"/>
                </a:cubicBezTo>
                <a:lnTo>
                  <a:pt x="127000" y="158750"/>
                </a:lnTo>
                <a:cubicBezTo>
                  <a:pt x="103584" y="158750"/>
                  <a:pt x="84667" y="144562"/>
                  <a:pt x="84667" y="127000"/>
                </a:cubicBezTo>
                <a:lnTo>
                  <a:pt x="84667" y="95250"/>
                </a:lnTo>
                <a:cubicBezTo>
                  <a:pt x="84667" y="77688"/>
                  <a:pt x="103584" y="63500"/>
                  <a:pt x="127000" y="63500"/>
                </a:cubicBezTo>
                <a:close/>
                <a:moveTo>
                  <a:pt x="148167" y="230188"/>
                </a:moveTo>
                <a:cubicBezTo>
                  <a:pt x="148167" y="243330"/>
                  <a:pt x="133940" y="254000"/>
                  <a:pt x="116417" y="254000"/>
                </a:cubicBezTo>
                <a:cubicBezTo>
                  <a:pt x="98893" y="254000"/>
                  <a:pt x="84667" y="243330"/>
                  <a:pt x="84667" y="230188"/>
                </a:cubicBezTo>
                <a:cubicBezTo>
                  <a:pt x="84667" y="217045"/>
                  <a:pt x="98893" y="206375"/>
                  <a:pt x="116417" y="206375"/>
                </a:cubicBezTo>
                <a:cubicBezTo>
                  <a:pt x="133940" y="206375"/>
                  <a:pt x="148167" y="217045"/>
                  <a:pt x="148167" y="230188"/>
                </a:cubicBezTo>
                <a:close/>
                <a:moveTo>
                  <a:pt x="254000" y="254000"/>
                </a:moveTo>
                <a:cubicBezTo>
                  <a:pt x="236477" y="254000"/>
                  <a:pt x="222250" y="243330"/>
                  <a:pt x="222250" y="230188"/>
                </a:cubicBezTo>
                <a:cubicBezTo>
                  <a:pt x="222250" y="217045"/>
                  <a:pt x="236477" y="206375"/>
                  <a:pt x="254000" y="206375"/>
                </a:cubicBezTo>
                <a:cubicBezTo>
                  <a:pt x="271523" y="206375"/>
                  <a:pt x="285750" y="217045"/>
                  <a:pt x="285750" y="230188"/>
                </a:cubicBezTo>
                <a:cubicBezTo>
                  <a:pt x="285750" y="243330"/>
                  <a:pt x="271523" y="254000"/>
                  <a:pt x="254000" y="254000"/>
                </a:cubicBezTo>
                <a:close/>
                <a:moveTo>
                  <a:pt x="423333" y="230188"/>
                </a:moveTo>
                <a:cubicBezTo>
                  <a:pt x="423333" y="243330"/>
                  <a:pt x="409107" y="254000"/>
                  <a:pt x="391583" y="254000"/>
                </a:cubicBezTo>
                <a:cubicBezTo>
                  <a:pt x="374060" y="254000"/>
                  <a:pt x="359833" y="243330"/>
                  <a:pt x="359833" y="230188"/>
                </a:cubicBezTo>
                <a:cubicBezTo>
                  <a:pt x="359833" y="217045"/>
                  <a:pt x="374060" y="206375"/>
                  <a:pt x="391583" y="206375"/>
                </a:cubicBezTo>
                <a:cubicBezTo>
                  <a:pt x="409107" y="206375"/>
                  <a:pt x="423333" y="217045"/>
                  <a:pt x="423333" y="230188"/>
                </a:cubicBezTo>
                <a:close/>
                <a:moveTo>
                  <a:pt x="116417" y="349250"/>
                </a:moveTo>
                <a:cubicBezTo>
                  <a:pt x="98893" y="349250"/>
                  <a:pt x="84667" y="338580"/>
                  <a:pt x="84667" y="325438"/>
                </a:cubicBezTo>
                <a:cubicBezTo>
                  <a:pt x="84667" y="312295"/>
                  <a:pt x="98893" y="301625"/>
                  <a:pt x="116417" y="301625"/>
                </a:cubicBezTo>
                <a:cubicBezTo>
                  <a:pt x="133940" y="301625"/>
                  <a:pt x="148167" y="312295"/>
                  <a:pt x="148167" y="325438"/>
                </a:cubicBezTo>
                <a:cubicBezTo>
                  <a:pt x="148167" y="338580"/>
                  <a:pt x="133940" y="349250"/>
                  <a:pt x="116417" y="349250"/>
                </a:cubicBezTo>
                <a:close/>
                <a:moveTo>
                  <a:pt x="285750" y="325438"/>
                </a:moveTo>
                <a:cubicBezTo>
                  <a:pt x="285750" y="338580"/>
                  <a:pt x="271523" y="349250"/>
                  <a:pt x="254000" y="349250"/>
                </a:cubicBezTo>
                <a:cubicBezTo>
                  <a:pt x="236477" y="349250"/>
                  <a:pt x="222250" y="338580"/>
                  <a:pt x="222250" y="325438"/>
                </a:cubicBezTo>
                <a:cubicBezTo>
                  <a:pt x="222250" y="312295"/>
                  <a:pt x="236477" y="301625"/>
                  <a:pt x="254000" y="301625"/>
                </a:cubicBezTo>
                <a:cubicBezTo>
                  <a:pt x="271523" y="301625"/>
                  <a:pt x="285750" y="312295"/>
                  <a:pt x="285750" y="325438"/>
                </a:cubicBezTo>
                <a:close/>
                <a:moveTo>
                  <a:pt x="391583" y="349250"/>
                </a:moveTo>
                <a:cubicBezTo>
                  <a:pt x="374060" y="349250"/>
                  <a:pt x="359833" y="338580"/>
                  <a:pt x="359833" y="325438"/>
                </a:cubicBezTo>
                <a:cubicBezTo>
                  <a:pt x="359833" y="312295"/>
                  <a:pt x="374060" y="301625"/>
                  <a:pt x="391583" y="301625"/>
                </a:cubicBezTo>
                <a:cubicBezTo>
                  <a:pt x="409107" y="301625"/>
                  <a:pt x="423333" y="312295"/>
                  <a:pt x="423333" y="325438"/>
                </a:cubicBezTo>
                <a:cubicBezTo>
                  <a:pt x="423333" y="338580"/>
                  <a:pt x="409107" y="349250"/>
                  <a:pt x="391583" y="349250"/>
                </a:cubicBezTo>
                <a:close/>
                <a:moveTo>
                  <a:pt x="84667" y="420688"/>
                </a:moveTo>
                <a:cubicBezTo>
                  <a:pt x="84667" y="407491"/>
                  <a:pt x="98822" y="396875"/>
                  <a:pt x="116417" y="396875"/>
                </a:cubicBezTo>
                <a:lnTo>
                  <a:pt x="264583" y="396875"/>
                </a:lnTo>
                <a:cubicBezTo>
                  <a:pt x="282178" y="396875"/>
                  <a:pt x="296333" y="407491"/>
                  <a:pt x="296333" y="420688"/>
                </a:cubicBezTo>
                <a:cubicBezTo>
                  <a:pt x="296333" y="433884"/>
                  <a:pt x="282178" y="444500"/>
                  <a:pt x="264583" y="444500"/>
                </a:cubicBezTo>
                <a:lnTo>
                  <a:pt x="116417" y="444500"/>
                </a:lnTo>
                <a:cubicBezTo>
                  <a:pt x="98822" y="444500"/>
                  <a:pt x="84667" y="433884"/>
                  <a:pt x="84667" y="420688"/>
                </a:cubicBezTo>
                <a:close/>
                <a:moveTo>
                  <a:pt x="391583" y="396875"/>
                </a:moveTo>
                <a:cubicBezTo>
                  <a:pt x="409178" y="396875"/>
                  <a:pt x="423333" y="407491"/>
                  <a:pt x="423333" y="420688"/>
                </a:cubicBezTo>
                <a:cubicBezTo>
                  <a:pt x="423333" y="433884"/>
                  <a:pt x="409178" y="444500"/>
                  <a:pt x="391583" y="444500"/>
                </a:cubicBezTo>
                <a:cubicBezTo>
                  <a:pt x="373989" y="444500"/>
                  <a:pt x="359833" y="433884"/>
                  <a:pt x="359833" y="420688"/>
                </a:cubicBezTo>
                <a:cubicBezTo>
                  <a:pt x="359833" y="407491"/>
                  <a:pt x="373989" y="396875"/>
                  <a:pt x="391583" y="396875"/>
                </a:cubicBez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0" y="1778000"/>
            <a:ext cx="3365500" cy="6096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0" name="Text 18"/>
          <p:cNvSpPr/>
          <p:nvPr/>
        </p:nvSpPr>
        <p:spPr>
          <a:xfrm>
            <a:off x="122555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2255500" y="2921000"/>
            <a:ext cx="2857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渲染与体会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255500" y="342900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视觉效果展示与项目开发心得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255500" y="711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31750"/>
                </a:moveTo>
                <a:cubicBezTo>
                  <a:pt x="182739" y="31750"/>
                  <a:pt x="125677" y="68263"/>
                  <a:pt x="84138" y="111720"/>
                </a:cubicBezTo>
                <a:cubicBezTo>
                  <a:pt x="42863" y="154880"/>
                  <a:pt x="15258" y="206375"/>
                  <a:pt x="2117" y="241796"/>
                </a:cubicBezTo>
                <a:cubicBezTo>
                  <a:pt x="-794" y="249634"/>
                  <a:pt x="-794" y="258366"/>
                  <a:pt x="2117" y="266204"/>
                </a:cubicBezTo>
                <a:cubicBezTo>
                  <a:pt x="15258" y="301625"/>
                  <a:pt x="42863" y="353219"/>
                  <a:pt x="84138" y="396280"/>
                </a:cubicBezTo>
                <a:cubicBezTo>
                  <a:pt x="125677" y="439638"/>
                  <a:pt x="182739" y="476250"/>
                  <a:pt x="254000" y="476250"/>
                </a:cubicBezTo>
                <a:cubicBezTo>
                  <a:pt x="325261" y="476250"/>
                  <a:pt x="382323" y="439737"/>
                  <a:pt x="423863" y="396280"/>
                </a:cubicBezTo>
                <a:cubicBezTo>
                  <a:pt x="465138" y="353120"/>
                  <a:pt x="492742" y="301625"/>
                  <a:pt x="505883" y="266204"/>
                </a:cubicBezTo>
                <a:cubicBezTo>
                  <a:pt x="508794" y="258366"/>
                  <a:pt x="508794" y="249634"/>
                  <a:pt x="505883" y="241796"/>
                </a:cubicBezTo>
                <a:cubicBezTo>
                  <a:pt x="492742" y="206375"/>
                  <a:pt x="465138" y="154781"/>
                  <a:pt x="423863" y="111720"/>
                </a:cubicBezTo>
                <a:cubicBezTo>
                  <a:pt x="382323" y="68362"/>
                  <a:pt x="325261" y="31750"/>
                  <a:pt x="254000" y="31750"/>
                </a:cubicBezTo>
                <a:close/>
                <a:moveTo>
                  <a:pt x="127000" y="254000"/>
                </a:moveTo>
                <a:cubicBezTo>
                  <a:pt x="127000" y="175145"/>
                  <a:pt x="183907" y="111125"/>
                  <a:pt x="254000" y="111125"/>
                </a:cubicBezTo>
                <a:cubicBezTo>
                  <a:pt x="324093" y="111125"/>
                  <a:pt x="381000" y="175145"/>
                  <a:pt x="381000" y="254000"/>
                </a:cubicBezTo>
                <a:cubicBezTo>
                  <a:pt x="381000" y="332855"/>
                  <a:pt x="324093" y="396875"/>
                  <a:pt x="254000" y="396875"/>
                </a:cubicBezTo>
                <a:cubicBezTo>
                  <a:pt x="183907" y="396875"/>
                  <a:pt x="127000" y="332855"/>
                  <a:pt x="127000" y="254000"/>
                </a:cubicBezTo>
                <a:close/>
                <a:moveTo>
                  <a:pt x="254000" y="190500"/>
                </a:moveTo>
                <a:cubicBezTo>
                  <a:pt x="254000" y="225524"/>
                  <a:pt x="228688" y="254000"/>
                  <a:pt x="197556" y="254000"/>
                </a:cubicBezTo>
                <a:cubicBezTo>
                  <a:pt x="187413" y="254000"/>
                  <a:pt x="177888" y="251023"/>
                  <a:pt x="169598" y="245666"/>
                </a:cubicBezTo>
                <a:cubicBezTo>
                  <a:pt x="168716" y="256480"/>
                  <a:pt x="169510" y="267593"/>
                  <a:pt x="172156" y="278606"/>
                </a:cubicBezTo>
                <a:cubicBezTo>
                  <a:pt x="184238" y="329406"/>
                  <a:pt x="230717" y="359569"/>
                  <a:pt x="275872" y="345976"/>
                </a:cubicBezTo>
                <a:cubicBezTo>
                  <a:pt x="321028" y="332383"/>
                  <a:pt x="347839" y="280095"/>
                  <a:pt x="335756" y="229295"/>
                </a:cubicBezTo>
                <a:cubicBezTo>
                  <a:pt x="324997" y="183952"/>
                  <a:pt x="286808" y="155079"/>
                  <a:pt x="246592" y="159048"/>
                </a:cubicBezTo>
                <a:cubicBezTo>
                  <a:pt x="251266" y="168275"/>
                  <a:pt x="254000" y="178991"/>
                  <a:pt x="254000" y="190500"/>
                </a:cubicBezTo>
                <a:close/>
              </a:path>
            </a:pathLst>
          </a:custGeom>
          <a:solidFill>
            <a:srgbClr val="D4773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ua5fzklftops/mnt/agents/output/ue_fighting_game/images/1_Battle_Arena_Images_Browse_117_620.png">    </p:cNvPr>
          <p:cNvPicPr>
            <a:picLocks noChangeAspect="1"/>
          </p:cNvPicPr>
          <p:nvPr/>
        </p:nvPicPr>
        <p:blipFill>
          <a:blip r:embed="rId1"/>
          <a:srcRect l="78" r="7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94000"/>
                </a:srgbClr>
              </a:gs>
              <a:gs pos="60000">
                <a:srgbClr val="0F1923">
                  <a:alpha val="82000"/>
                </a:srgbClr>
              </a:gs>
              <a:gs pos="100000">
                <a:srgbClr val="0F1923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635000" cy="38100"/>
          </a:xfrm>
          <a:prstGeom prst="rect">
            <a:avLst/>
          </a:prstGeom>
          <a:solidFill>
            <a:srgbClr val="D4773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项目概述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双人对打游戏功能全景与蓝图类结构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项目功能总览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14732000" cy="25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4699000" cy="1524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146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700"/>
                </a:moveTo>
                <a:cubicBezTo>
                  <a:pt x="239648" y="12700"/>
                  <a:pt x="269240" y="49689"/>
                  <a:pt x="269240" y="95250"/>
                </a:cubicBezTo>
                <a:cubicBezTo>
                  <a:pt x="269240" y="140811"/>
                  <a:pt x="239648" y="177800"/>
                  <a:pt x="203200" y="177800"/>
                </a:cubicBezTo>
                <a:cubicBezTo>
                  <a:pt x="166752" y="177800"/>
                  <a:pt x="137160" y="140811"/>
                  <a:pt x="137160" y="95250"/>
                </a:cubicBezTo>
                <a:cubicBezTo>
                  <a:pt x="137160" y="49689"/>
                  <a:pt x="166752" y="12700"/>
                  <a:pt x="203200" y="12700"/>
                </a:cubicBezTo>
                <a:close/>
                <a:moveTo>
                  <a:pt x="60960" y="69850"/>
                </a:moveTo>
                <a:cubicBezTo>
                  <a:pt x="86194" y="69850"/>
                  <a:pt x="106680" y="95458"/>
                  <a:pt x="106680" y="127000"/>
                </a:cubicBezTo>
                <a:cubicBezTo>
                  <a:pt x="106680" y="158542"/>
                  <a:pt x="86194" y="184150"/>
                  <a:pt x="60960" y="184150"/>
                </a:cubicBezTo>
                <a:cubicBezTo>
                  <a:pt x="35726" y="184150"/>
                  <a:pt x="15240" y="158542"/>
                  <a:pt x="15240" y="127000"/>
                </a:cubicBezTo>
                <a:cubicBezTo>
                  <a:pt x="15240" y="95458"/>
                  <a:pt x="35726" y="69850"/>
                  <a:pt x="60960" y="69850"/>
                </a:cubicBezTo>
                <a:close/>
                <a:moveTo>
                  <a:pt x="0" y="330200"/>
                </a:moveTo>
                <a:cubicBezTo>
                  <a:pt x="0" y="274082"/>
                  <a:pt x="36386" y="228600"/>
                  <a:pt x="81280" y="228600"/>
                </a:cubicBezTo>
                <a:cubicBezTo>
                  <a:pt x="89408" y="228600"/>
                  <a:pt x="97282" y="230108"/>
                  <a:pt x="104712" y="232886"/>
                </a:cubicBezTo>
                <a:cubicBezTo>
                  <a:pt x="83820" y="262096"/>
                  <a:pt x="71120" y="300672"/>
                  <a:pt x="71120" y="342900"/>
                </a:cubicBezTo>
                <a:lnTo>
                  <a:pt x="71120" y="355600"/>
                </a:lnTo>
                <a:cubicBezTo>
                  <a:pt x="71120" y="364649"/>
                  <a:pt x="72644" y="373221"/>
                  <a:pt x="75375" y="381000"/>
                </a:cubicBezTo>
                <a:lnTo>
                  <a:pt x="20320" y="381000"/>
                </a:lnTo>
                <a:cubicBezTo>
                  <a:pt x="908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331026" y="381000"/>
                </a:moveTo>
                <a:cubicBezTo>
                  <a:pt x="333756" y="373221"/>
                  <a:pt x="335280" y="364649"/>
                  <a:pt x="335280" y="355600"/>
                </a:cubicBezTo>
                <a:lnTo>
                  <a:pt x="335280" y="342900"/>
                </a:lnTo>
                <a:cubicBezTo>
                  <a:pt x="335280" y="300673"/>
                  <a:pt x="322580" y="262096"/>
                  <a:pt x="301689" y="232886"/>
                </a:cubicBezTo>
                <a:cubicBezTo>
                  <a:pt x="309118" y="230108"/>
                  <a:pt x="316992" y="228600"/>
                  <a:pt x="325120" y="228600"/>
                </a:cubicBezTo>
                <a:cubicBezTo>
                  <a:pt x="370015" y="228600"/>
                  <a:pt x="406400" y="274082"/>
                  <a:pt x="406400" y="330200"/>
                </a:cubicBezTo>
                <a:lnTo>
                  <a:pt x="406400" y="355600"/>
                </a:lnTo>
                <a:cubicBezTo>
                  <a:pt x="406400" y="369649"/>
                  <a:pt x="397320" y="381000"/>
                  <a:pt x="386080" y="381000"/>
                </a:cubicBezTo>
                <a:lnTo>
                  <a:pt x="331026" y="381000"/>
                </a:lnTo>
                <a:close/>
                <a:moveTo>
                  <a:pt x="299720" y="127000"/>
                </a:moveTo>
                <a:cubicBezTo>
                  <a:pt x="299720" y="95458"/>
                  <a:pt x="320206" y="69850"/>
                  <a:pt x="345440" y="69850"/>
                </a:cubicBezTo>
                <a:cubicBezTo>
                  <a:pt x="370674" y="69850"/>
                  <a:pt x="391160" y="95458"/>
                  <a:pt x="391160" y="127000"/>
                </a:cubicBezTo>
                <a:cubicBezTo>
                  <a:pt x="391160" y="158542"/>
                  <a:pt x="370674" y="184150"/>
                  <a:pt x="345440" y="184150"/>
                </a:cubicBezTo>
                <a:cubicBezTo>
                  <a:pt x="320206" y="184150"/>
                  <a:pt x="299720" y="158542"/>
                  <a:pt x="299720" y="127000"/>
                </a:cubicBezTo>
                <a:close/>
                <a:moveTo>
                  <a:pt x="101600" y="342900"/>
                </a:moveTo>
                <a:cubicBezTo>
                  <a:pt x="101600" y="272733"/>
                  <a:pt x="147066" y="215900"/>
                  <a:pt x="203200" y="215900"/>
                </a:cubicBezTo>
                <a:cubicBezTo>
                  <a:pt x="259334" y="215900"/>
                  <a:pt x="304800" y="272733"/>
                  <a:pt x="304800" y="342900"/>
                </a:cubicBezTo>
                <a:lnTo>
                  <a:pt x="304800" y="355600"/>
                </a:lnTo>
                <a:cubicBezTo>
                  <a:pt x="304800" y="369649"/>
                  <a:pt x="295720" y="381000"/>
                  <a:pt x="284480" y="381000"/>
                </a:cubicBezTo>
                <a:lnTo>
                  <a:pt x="121920" y="381000"/>
                </a:lnTo>
                <a:cubicBezTo>
                  <a:pt x="110681" y="381000"/>
                  <a:pt x="101600" y="369649"/>
                  <a:pt x="101600" y="355600"/>
                </a:cubicBezTo>
                <a:lnTo>
                  <a:pt x="101600" y="342900"/>
                </a:ln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4224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双人对战模式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19050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P1/P2独立输入通道，支持键盘与手柄双操控方案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15000" y="1270000"/>
            <a:ext cx="4699000" cy="1524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0" y="146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14224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角色属性系统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0" y="19050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HP/MP/能量值三属性管理，支持平滑插值恢复与死亡判定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668000" y="1270000"/>
            <a:ext cx="4826000" cy="1524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96600" y="146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69333" y="0"/>
                </a:moveTo>
                <a:cubicBezTo>
                  <a:pt x="188066" y="0"/>
                  <a:pt x="203200" y="11351"/>
                  <a:pt x="203200" y="25400"/>
                </a:cubicBezTo>
                <a:lnTo>
                  <a:pt x="203200" y="114300"/>
                </a:lnTo>
                <a:lnTo>
                  <a:pt x="135467" y="114300"/>
                </a:lnTo>
                <a:lnTo>
                  <a:pt x="135467" y="25400"/>
                </a:lnTo>
                <a:cubicBezTo>
                  <a:pt x="135467" y="11351"/>
                  <a:pt x="150601" y="0"/>
                  <a:pt x="169333" y="0"/>
                </a:cubicBezTo>
                <a:close/>
                <a:moveTo>
                  <a:pt x="33867" y="50800"/>
                </a:moveTo>
                <a:cubicBezTo>
                  <a:pt x="33867" y="36751"/>
                  <a:pt x="49001" y="25400"/>
                  <a:pt x="67733" y="25400"/>
                </a:cubicBezTo>
                <a:cubicBezTo>
                  <a:pt x="86466" y="25400"/>
                  <a:pt x="101600" y="36751"/>
                  <a:pt x="101600" y="50800"/>
                </a:cubicBezTo>
                <a:lnTo>
                  <a:pt x="101600" y="114300"/>
                </a:lnTo>
                <a:lnTo>
                  <a:pt x="33867" y="114300"/>
                </a:lnTo>
                <a:lnTo>
                  <a:pt x="33867" y="50800"/>
                </a:lnTo>
                <a:close/>
                <a:moveTo>
                  <a:pt x="237067" y="50800"/>
                </a:moveTo>
                <a:cubicBezTo>
                  <a:pt x="237067" y="36751"/>
                  <a:pt x="252201" y="25400"/>
                  <a:pt x="270933" y="25400"/>
                </a:cubicBezTo>
                <a:cubicBezTo>
                  <a:pt x="289666" y="25400"/>
                  <a:pt x="304800" y="36751"/>
                  <a:pt x="304800" y="50800"/>
                </a:cubicBezTo>
                <a:lnTo>
                  <a:pt x="304800" y="127000"/>
                </a:lnTo>
                <a:cubicBezTo>
                  <a:pt x="304800" y="141049"/>
                  <a:pt x="289666" y="152400"/>
                  <a:pt x="270933" y="152400"/>
                </a:cubicBezTo>
                <a:cubicBezTo>
                  <a:pt x="252201" y="152400"/>
                  <a:pt x="237067" y="141049"/>
                  <a:pt x="237067" y="127000"/>
                </a:cubicBezTo>
                <a:lnTo>
                  <a:pt x="237067" y="50800"/>
                </a:lnTo>
                <a:close/>
                <a:moveTo>
                  <a:pt x="338667" y="101600"/>
                </a:moveTo>
                <a:cubicBezTo>
                  <a:pt x="338667" y="87551"/>
                  <a:pt x="353801" y="76200"/>
                  <a:pt x="372533" y="76200"/>
                </a:cubicBezTo>
                <a:cubicBezTo>
                  <a:pt x="391266" y="76200"/>
                  <a:pt x="406400" y="87551"/>
                  <a:pt x="406400" y="101600"/>
                </a:cubicBezTo>
                <a:lnTo>
                  <a:pt x="406400" y="152400"/>
                </a:lnTo>
                <a:cubicBezTo>
                  <a:pt x="406400" y="166449"/>
                  <a:pt x="391266" y="177800"/>
                  <a:pt x="372533" y="177800"/>
                </a:cubicBezTo>
                <a:cubicBezTo>
                  <a:pt x="353801" y="177800"/>
                  <a:pt x="338667" y="166449"/>
                  <a:pt x="338667" y="152400"/>
                </a:cubicBezTo>
                <a:lnTo>
                  <a:pt x="338667" y="101600"/>
                </a:lnTo>
                <a:close/>
                <a:moveTo>
                  <a:pt x="237067" y="171450"/>
                </a:moveTo>
                <a:lnTo>
                  <a:pt x="237067" y="170974"/>
                </a:lnTo>
                <a:cubicBezTo>
                  <a:pt x="247015" y="175260"/>
                  <a:pt x="258551" y="177800"/>
                  <a:pt x="270933" y="177800"/>
                </a:cubicBezTo>
                <a:cubicBezTo>
                  <a:pt x="284903" y="177800"/>
                  <a:pt x="297815" y="174625"/>
                  <a:pt x="308610" y="169227"/>
                </a:cubicBezTo>
                <a:cubicBezTo>
                  <a:pt x="317818" y="188992"/>
                  <a:pt x="343006" y="203200"/>
                  <a:pt x="372533" y="203200"/>
                </a:cubicBezTo>
                <a:cubicBezTo>
                  <a:pt x="384916" y="203200"/>
                  <a:pt x="396452" y="200739"/>
                  <a:pt x="406400" y="196374"/>
                </a:cubicBezTo>
                <a:lnTo>
                  <a:pt x="406400" y="203200"/>
                </a:lnTo>
                <a:cubicBezTo>
                  <a:pt x="406400" y="244713"/>
                  <a:pt x="379836" y="281623"/>
                  <a:pt x="338667" y="304800"/>
                </a:cubicBezTo>
                <a:lnTo>
                  <a:pt x="338667" y="381000"/>
                </a:lnTo>
                <a:cubicBezTo>
                  <a:pt x="338667" y="395049"/>
                  <a:pt x="323533" y="406400"/>
                  <a:pt x="304800" y="406400"/>
                </a:cubicBezTo>
                <a:lnTo>
                  <a:pt x="135467" y="406400"/>
                </a:lnTo>
                <a:cubicBezTo>
                  <a:pt x="116734" y="406400"/>
                  <a:pt x="101600" y="395049"/>
                  <a:pt x="101600" y="381000"/>
                </a:cubicBezTo>
                <a:lnTo>
                  <a:pt x="101600" y="318770"/>
                </a:lnTo>
                <a:cubicBezTo>
                  <a:pt x="83291" y="312499"/>
                  <a:pt x="66463" y="303848"/>
                  <a:pt x="51964" y="292973"/>
                </a:cubicBezTo>
                <a:lnTo>
                  <a:pt x="39688" y="283766"/>
                </a:lnTo>
                <a:cubicBezTo>
                  <a:pt x="14288" y="264716"/>
                  <a:pt x="0" y="238839"/>
                  <a:pt x="0" y="211931"/>
                </a:cubicBezTo>
                <a:lnTo>
                  <a:pt x="0" y="190500"/>
                </a:lnTo>
                <a:cubicBezTo>
                  <a:pt x="0" y="162481"/>
                  <a:pt x="30374" y="139700"/>
                  <a:pt x="67733" y="139700"/>
                </a:cubicBezTo>
                <a:lnTo>
                  <a:pt x="160867" y="139700"/>
                </a:lnTo>
                <a:cubicBezTo>
                  <a:pt x="184256" y="139700"/>
                  <a:pt x="203200" y="153908"/>
                  <a:pt x="203200" y="171450"/>
                </a:cubicBezTo>
                <a:cubicBezTo>
                  <a:pt x="203200" y="188992"/>
                  <a:pt x="184256" y="203200"/>
                  <a:pt x="160867" y="203200"/>
                </a:cubicBezTo>
                <a:lnTo>
                  <a:pt x="101600" y="203200"/>
                </a:lnTo>
                <a:cubicBezTo>
                  <a:pt x="92287" y="203200"/>
                  <a:pt x="84667" y="208915"/>
                  <a:pt x="84667" y="215900"/>
                </a:cubicBezTo>
                <a:cubicBezTo>
                  <a:pt x="84667" y="222885"/>
                  <a:pt x="92287" y="228600"/>
                  <a:pt x="101600" y="228600"/>
                </a:cubicBezTo>
                <a:lnTo>
                  <a:pt x="160867" y="228600"/>
                </a:lnTo>
                <a:cubicBezTo>
                  <a:pt x="202988" y="228600"/>
                  <a:pt x="237067" y="203041"/>
                  <a:pt x="237067" y="171450"/>
                </a:cubicBez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0" y="1422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连招攻击系统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896600" y="1905000"/>
            <a:ext cx="438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轻击/重击/EX技能/闪避多段连招，动画蒙太奇驱动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2984500"/>
            <a:ext cx="4699000" cy="1524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7" name="Shape 15"/>
          <p:cNvSpPr/>
          <p:nvPr/>
        </p:nvSpPr>
        <p:spPr>
          <a:xfrm>
            <a:off x="990600" y="317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84480" y="50800"/>
                </a:moveTo>
                <a:cubicBezTo>
                  <a:pt x="351790" y="50800"/>
                  <a:pt x="406400" y="119063"/>
                  <a:pt x="406400" y="203200"/>
                </a:cubicBezTo>
                <a:cubicBezTo>
                  <a:pt x="406400" y="287338"/>
                  <a:pt x="351790" y="355600"/>
                  <a:pt x="284480" y="355600"/>
                </a:cubicBezTo>
                <a:lnTo>
                  <a:pt x="121920" y="355600"/>
                </a:lnTo>
                <a:cubicBezTo>
                  <a:pt x="54610" y="355600"/>
                  <a:pt x="0" y="287338"/>
                  <a:pt x="0" y="203200"/>
                </a:cubicBezTo>
                <a:cubicBezTo>
                  <a:pt x="0" y="119063"/>
                  <a:pt x="54610" y="50800"/>
                  <a:pt x="121920" y="50800"/>
                </a:cubicBezTo>
                <a:lnTo>
                  <a:pt x="284480" y="50800"/>
                </a:lnTo>
                <a:close/>
                <a:moveTo>
                  <a:pt x="121920" y="139700"/>
                </a:moveTo>
                <a:cubicBezTo>
                  <a:pt x="113475" y="139700"/>
                  <a:pt x="106680" y="148193"/>
                  <a:pt x="106680" y="158750"/>
                </a:cubicBezTo>
                <a:lnTo>
                  <a:pt x="106680" y="184150"/>
                </a:lnTo>
                <a:lnTo>
                  <a:pt x="86360" y="184150"/>
                </a:lnTo>
                <a:cubicBezTo>
                  <a:pt x="77915" y="184150"/>
                  <a:pt x="71120" y="192643"/>
                  <a:pt x="71120" y="203200"/>
                </a:cubicBezTo>
                <a:cubicBezTo>
                  <a:pt x="71120" y="213757"/>
                  <a:pt x="77915" y="222250"/>
                  <a:pt x="86360" y="222250"/>
                </a:cubicBezTo>
                <a:lnTo>
                  <a:pt x="106680" y="222250"/>
                </a:lnTo>
                <a:lnTo>
                  <a:pt x="106680" y="247650"/>
                </a:lnTo>
                <a:cubicBezTo>
                  <a:pt x="106680" y="258207"/>
                  <a:pt x="113475" y="266700"/>
                  <a:pt x="121920" y="266700"/>
                </a:cubicBezTo>
                <a:cubicBezTo>
                  <a:pt x="130366" y="266700"/>
                  <a:pt x="137160" y="258207"/>
                  <a:pt x="137160" y="247650"/>
                </a:cubicBezTo>
                <a:lnTo>
                  <a:pt x="137160" y="222250"/>
                </a:lnTo>
                <a:lnTo>
                  <a:pt x="157480" y="222250"/>
                </a:lnTo>
                <a:cubicBezTo>
                  <a:pt x="165926" y="222250"/>
                  <a:pt x="172720" y="213757"/>
                  <a:pt x="172720" y="203200"/>
                </a:cubicBezTo>
                <a:cubicBezTo>
                  <a:pt x="172720" y="192643"/>
                  <a:pt x="165926" y="184150"/>
                  <a:pt x="157480" y="184150"/>
                </a:cubicBezTo>
                <a:lnTo>
                  <a:pt x="137160" y="184150"/>
                </a:lnTo>
                <a:lnTo>
                  <a:pt x="137160" y="158750"/>
                </a:lnTo>
                <a:cubicBezTo>
                  <a:pt x="137160" y="148193"/>
                  <a:pt x="130366" y="139700"/>
                  <a:pt x="121920" y="139700"/>
                </a:cubicBezTo>
                <a:close/>
                <a:moveTo>
                  <a:pt x="274320" y="215900"/>
                </a:moveTo>
                <a:cubicBezTo>
                  <a:pt x="263105" y="215900"/>
                  <a:pt x="254000" y="227281"/>
                  <a:pt x="254000" y="241300"/>
                </a:cubicBezTo>
                <a:cubicBezTo>
                  <a:pt x="254000" y="255319"/>
                  <a:pt x="263105" y="266700"/>
                  <a:pt x="274320" y="266700"/>
                </a:cubicBezTo>
                <a:cubicBezTo>
                  <a:pt x="285535" y="266700"/>
                  <a:pt x="294640" y="255319"/>
                  <a:pt x="294640" y="241300"/>
                </a:cubicBezTo>
                <a:cubicBezTo>
                  <a:pt x="294640" y="227281"/>
                  <a:pt x="285535" y="215900"/>
                  <a:pt x="274320" y="215900"/>
                </a:cubicBezTo>
                <a:close/>
                <a:moveTo>
                  <a:pt x="314960" y="139700"/>
                </a:moveTo>
                <a:cubicBezTo>
                  <a:pt x="303745" y="139700"/>
                  <a:pt x="294640" y="151081"/>
                  <a:pt x="294640" y="165100"/>
                </a:cubicBezTo>
                <a:cubicBezTo>
                  <a:pt x="294640" y="179119"/>
                  <a:pt x="303745" y="190500"/>
                  <a:pt x="314960" y="190500"/>
                </a:cubicBezTo>
                <a:cubicBezTo>
                  <a:pt x="326175" y="190500"/>
                  <a:pt x="335280" y="179119"/>
                  <a:pt x="335280" y="165100"/>
                </a:cubicBezTo>
                <a:cubicBezTo>
                  <a:pt x="335280" y="151081"/>
                  <a:pt x="326175" y="139700"/>
                  <a:pt x="314960" y="139700"/>
                </a:cubicBez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31369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输入控制系统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0600" y="36195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轴向输入+动作输入双通道，Branch条件判断P1/P2有效性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15000" y="2984500"/>
            <a:ext cx="4699000" cy="1524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317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845" y="3334"/>
                </a:moveTo>
                <a:cubicBezTo>
                  <a:pt x="22225" y="-1826"/>
                  <a:pt x="12065" y="-873"/>
                  <a:pt x="5556" y="5556"/>
                </a:cubicBezTo>
                <a:cubicBezTo>
                  <a:pt x="-952" y="11986"/>
                  <a:pt x="-1826" y="22225"/>
                  <a:pt x="3334" y="29845"/>
                </a:cubicBezTo>
                <a:lnTo>
                  <a:pt x="92234" y="159464"/>
                </a:lnTo>
                <a:lnTo>
                  <a:pt x="13176" y="185103"/>
                </a:lnTo>
                <a:cubicBezTo>
                  <a:pt x="5318" y="187643"/>
                  <a:pt x="0" y="194945"/>
                  <a:pt x="0" y="203200"/>
                </a:cubicBezTo>
                <a:cubicBezTo>
                  <a:pt x="0" y="211455"/>
                  <a:pt x="5318" y="218758"/>
                  <a:pt x="13176" y="221298"/>
                </a:cubicBezTo>
                <a:lnTo>
                  <a:pt x="95012" y="247809"/>
                </a:lnTo>
                <a:lnTo>
                  <a:pt x="53022" y="327660"/>
                </a:lnTo>
                <a:cubicBezTo>
                  <a:pt x="49133" y="335042"/>
                  <a:pt x="50482" y="344091"/>
                  <a:pt x="56436" y="349964"/>
                </a:cubicBezTo>
                <a:cubicBezTo>
                  <a:pt x="62389" y="355838"/>
                  <a:pt x="71358" y="357267"/>
                  <a:pt x="78740" y="353378"/>
                </a:cubicBezTo>
                <a:lnTo>
                  <a:pt x="158591" y="311388"/>
                </a:lnTo>
                <a:lnTo>
                  <a:pt x="185103" y="393224"/>
                </a:lnTo>
                <a:cubicBezTo>
                  <a:pt x="187643" y="401082"/>
                  <a:pt x="194945" y="406400"/>
                  <a:pt x="203200" y="406400"/>
                </a:cubicBezTo>
                <a:cubicBezTo>
                  <a:pt x="211455" y="406400"/>
                  <a:pt x="218758" y="401082"/>
                  <a:pt x="221298" y="393224"/>
                </a:cubicBezTo>
                <a:lnTo>
                  <a:pt x="247809" y="311388"/>
                </a:lnTo>
                <a:lnTo>
                  <a:pt x="327660" y="353377"/>
                </a:lnTo>
                <a:cubicBezTo>
                  <a:pt x="335042" y="357267"/>
                  <a:pt x="344091" y="355917"/>
                  <a:pt x="349964" y="349964"/>
                </a:cubicBezTo>
                <a:cubicBezTo>
                  <a:pt x="355838" y="344011"/>
                  <a:pt x="357267" y="335042"/>
                  <a:pt x="353378" y="327660"/>
                </a:cubicBezTo>
                <a:lnTo>
                  <a:pt x="311388" y="247809"/>
                </a:lnTo>
                <a:lnTo>
                  <a:pt x="393224" y="221297"/>
                </a:lnTo>
                <a:cubicBezTo>
                  <a:pt x="401082" y="218757"/>
                  <a:pt x="406400" y="211455"/>
                  <a:pt x="406400" y="203200"/>
                </a:cubicBezTo>
                <a:cubicBezTo>
                  <a:pt x="406400" y="194945"/>
                  <a:pt x="401082" y="187642"/>
                  <a:pt x="393224" y="185102"/>
                </a:cubicBezTo>
                <a:lnTo>
                  <a:pt x="308689" y="157718"/>
                </a:lnTo>
                <a:lnTo>
                  <a:pt x="329089" y="101838"/>
                </a:lnTo>
                <a:cubicBezTo>
                  <a:pt x="331629" y="94853"/>
                  <a:pt x="329883" y="87074"/>
                  <a:pt x="324644" y="81836"/>
                </a:cubicBezTo>
                <a:cubicBezTo>
                  <a:pt x="319405" y="76597"/>
                  <a:pt x="311626" y="74851"/>
                  <a:pt x="304641" y="77391"/>
                </a:cubicBezTo>
                <a:lnTo>
                  <a:pt x="248761" y="97790"/>
                </a:lnTo>
                <a:lnTo>
                  <a:pt x="221377" y="13256"/>
                </a:lnTo>
                <a:cubicBezTo>
                  <a:pt x="218758" y="5318"/>
                  <a:pt x="211455" y="0"/>
                  <a:pt x="203200" y="0"/>
                </a:cubicBezTo>
                <a:cubicBezTo>
                  <a:pt x="194945" y="0"/>
                  <a:pt x="187643" y="5318"/>
                  <a:pt x="185103" y="13176"/>
                </a:cubicBezTo>
                <a:lnTo>
                  <a:pt x="159464" y="92234"/>
                </a:lnTo>
                <a:lnTo>
                  <a:pt x="29845" y="3334"/>
                </a:ln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22" name="Text 20"/>
          <p:cNvSpPr/>
          <p:nvPr/>
        </p:nvSpPr>
        <p:spPr>
          <a:xfrm>
            <a:off x="6477000" y="31369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伤害碰撞检测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0" y="3619500"/>
            <a:ext cx="425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Capsule/Box碰撞体Overlap事件触发伤害计算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668000" y="2984500"/>
            <a:ext cx="4826000" cy="1524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96600" y="317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5843" y="-21431"/>
                </a:moveTo>
                <a:lnTo>
                  <a:pt x="196286" y="7779"/>
                </a:lnTo>
                <a:lnTo>
                  <a:pt x="222250" y="19526"/>
                </a:lnTo>
                <a:cubicBezTo>
                  <a:pt x="224367" y="20479"/>
                  <a:pt x="225778" y="22860"/>
                  <a:pt x="225778" y="25400"/>
                </a:cubicBezTo>
                <a:cubicBezTo>
                  <a:pt x="225778" y="27940"/>
                  <a:pt x="224367" y="30321"/>
                  <a:pt x="222250" y="31274"/>
                </a:cubicBezTo>
                <a:lnTo>
                  <a:pt x="196286" y="43021"/>
                </a:lnTo>
                <a:lnTo>
                  <a:pt x="185843" y="72231"/>
                </a:lnTo>
                <a:cubicBezTo>
                  <a:pt x="184997" y="74613"/>
                  <a:pt x="182880" y="76200"/>
                  <a:pt x="180622" y="76200"/>
                </a:cubicBezTo>
                <a:cubicBezTo>
                  <a:pt x="178364" y="76200"/>
                  <a:pt x="176248" y="74613"/>
                  <a:pt x="175401" y="72231"/>
                </a:cubicBezTo>
                <a:lnTo>
                  <a:pt x="164959" y="43021"/>
                </a:lnTo>
                <a:lnTo>
                  <a:pt x="138994" y="31274"/>
                </a:lnTo>
                <a:cubicBezTo>
                  <a:pt x="136878" y="30321"/>
                  <a:pt x="135467" y="27940"/>
                  <a:pt x="135467" y="25400"/>
                </a:cubicBezTo>
                <a:cubicBezTo>
                  <a:pt x="135467" y="22860"/>
                  <a:pt x="136878" y="20479"/>
                  <a:pt x="138994" y="19526"/>
                </a:cubicBezTo>
                <a:lnTo>
                  <a:pt x="164959" y="7779"/>
                </a:lnTo>
                <a:lnTo>
                  <a:pt x="175401" y="-21431"/>
                </a:lnTo>
                <a:cubicBezTo>
                  <a:pt x="176248" y="-23812"/>
                  <a:pt x="178364" y="-25400"/>
                  <a:pt x="180622" y="-25400"/>
                </a:cubicBezTo>
                <a:cubicBezTo>
                  <a:pt x="182880" y="-25400"/>
                  <a:pt x="184997" y="-23812"/>
                  <a:pt x="185843" y="-21431"/>
                </a:cubicBezTo>
                <a:close/>
                <a:moveTo>
                  <a:pt x="78105" y="33099"/>
                </a:moveTo>
                <a:lnTo>
                  <a:pt x="93274" y="72866"/>
                </a:lnTo>
                <a:lnTo>
                  <a:pt x="128623" y="89932"/>
                </a:lnTo>
                <a:cubicBezTo>
                  <a:pt x="132786" y="91916"/>
                  <a:pt x="135467" y="96520"/>
                  <a:pt x="135467" y="101600"/>
                </a:cubicBezTo>
                <a:cubicBezTo>
                  <a:pt x="135467" y="106680"/>
                  <a:pt x="132786" y="111284"/>
                  <a:pt x="128623" y="113268"/>
                </a:cubicBezTo>
                <a:lnTo>
                  <a:pt x="93274" y="130334"/>
                </a:lnTo>
                <a:lnTo>
                  <a:pt x="78105" y="170101"/>
                </a:lnTo>
                <a:cubicBezTo>
                  <a:pt x="76341" y="174784"/>
                  <a:pt x="72249" y="177800"/>
                  <a:pt x="67733" y="177800"/>
                </a:cubicBezTo>
                <a:cubicBezTo>
                  <a:pt x="63218" y="177800"/>
                  <a:pt x="59126" y="174784"/>
                  <a:pt x="57362" y="170101"/>
                </a:cubicBezTo>
                <a:lnTo>
                  <a:pt x="42192" y="130334"/>
                </a:lnTo>
                <a:lnTo>
                  <a:pt x="6844" y="113268"/>
                </a:lnTo>
                <a:cubicBezTo>
                  <a:pt x="2681" y="111284"/>
                  <a:pt x="0" y="106680"/>
                  <a:pt x="0" y="101600"/>
                </a:cubicBezTo>
                <a:cubicBezTo>
                  <a:pt x="0" y="96520"/>
                  <a:pt x="2681" y="91916"/>
                  <a:pt x="6844" y="89932"/>
                </a:cubicBezTo>
                <a:lnTo>
                  <a:pt x="42192" y="72866"/>
                </a:lnTo>
                <a:lnTo>
                  <a:pt x="57362" y="33099"/>
                </a:lnTo>
                <a:cubicBezTo>
                  <a:pt x="59126" y="28416"/>
                  <a:pt x="63218" y="25400"/>
                  <a:pt x="67733" y="25400"/>
                </a:cubicBezTo>
                <a:cubicBezTo>
                  <a:pt x="72249" y="25400"/>
                  <a:pt x="76341" y="28416"/>
                  <a:pt x="78105" y="33099"/>
                </a:cubicBezTo>
                <a:close/>
                <a:moveTo>
                  <a:pt x="327378" y="241300"/>
                </a:moveTo>
                <a:cubicBezTo>
                  <a:pt x="331893" y="241300"/>
                  <a:pt x="335986" y="244316"/>
                  <a:pt x="337749" y="248999"/>
                </a:cubicBezTo>
                <a:lnTo>
                  <a:pt x="352919" y="288766"/>
                </a:lnTo>
                <a:lnTo>
                  <a:pt x="388267" y="305832"/>
                </a:lnTo>
                <a:cubicBezTo>
                  <a:pt x="392430" y="307816"/>
                  <a:pt x="395111" y="312420"/>
                  <a:pt x="395111" y="317500"/>
                </a:cubicBezTo>
                <a:cubicBezTo>
                  <a:pt x="395111" y="322580"/>
                  <a:pt x="392430" y="327184"/>
                  <a:pt x="388267" y="329168"/>
                </a:cubicBezTo>
                <a:lnTo>
                  <a:pt x="352919" y="346234"/>
                </a:lnTo>
                <a:lnTo>
                  <a:pt x="337749" y="386001"/>
                </a:lnTo>
                <a:cubicBezTo>
                  <a:pt x="335986" y="390684"/>
                  <a:pt x="331893" y="393700"/>
                  <a:pt x="327378" y="393700"/>
                </a:cubicBezTo>
                <a:cubicBezTo>
                  <a:pt x="322862" y="393700"/>
                  <a:pt x="318770" y="390684"/>
                  <a:pt x="317006" y="386001"/>
                </a:cubicBezTo>
                <a:lnTo>
                  <a:pt x="301837" y="346234"/>
                </a:lnTo>
                <a:lnTo>
                  <a:pt x="266488" y="329168"/>
                </a:lnTo>
                <a:cubicBezTo>
                  <a:pt x="262326" y="327184"/>
                  <a:pt x="259644" y="322580"/>
                  <a:pt x="259644" y="317500"/>
                </a:cubicBezTo>
                <a:cubicBezTo>
                  <a:pt x="259644" y="312420"/>
                  <a:pt x="262326" y="307816"/>
                  <a:pt x="266488" y="305832"/>
                </a:cubicBezTo>
                <a:lnTo>
                  <a:pt x="301837" y="288766"/>
                </a:lnTo>
                <a:lnTo>
                  <a:pt x="317006" y="248999"/>
                </a:lnTo>
                <a:cubicBezTo>
                  <a:pt x="318770" y="244316"/>
                  <a:pt x="322862" y="241300"/>
                  <a:pt x="327378" y="241300"/>
                </a:cubicBezTo>
                <a:close/>
                <a:moveTo>
                  <a:pt x="324556" y="0"/>
                </a:moveTo>
                <a:cubicBezTo>
                  <a:pt x="332317" y="0"/>
                  <a:pt x="339796" y="3493"/>
                  <a:pt x="345369" y="9684"/>
                </a:cubicBezTo>
                <a:lnTo>
                  <a:pt x="375214" y="43259"/>
                </a:lnTo>
                <a:cubicBezTo>
                  <a:pt x="380718" y="49530"/>
                  <a:pt x="383822" y="57944"/>
                  <a:pt x="383822" y="66675"/>
                </a:cubicBezTo>
                <a:cubicBezTo>
                  <a:pt x="383822" y="75406"/>
                  <a:pt x="380718" y="83820"/>
                  <a:pt x="375214" y="90091"/>
                </a:cubicBezTo>
                <a:lnTo>
                  <a:pt x="312984" y="160099"/>
                </a:lnTo>
                <a:lnTo>
                  <a:pt x="241512" y="79693"/>
                </a:lnTo>
                <a:lnTo>
                  <a:pt x="303742" y="9684"/>
                </a:lnTo>
                <a:cubicBezTo>
                  <a:pt x="309316" y="3493"/>
                  <a:pt x="316794" y="0"/>
                  <a:pt x="324556" y="0"/>
                </a:cubicBezTo>
                <a:close/>
                <a:moveTo>
                  <a:pt x="31186" y="316309"/>
                </a:moveTo>
                <a:lnTo>
                  <a:pt x="217593" y="106601"/>
                </a:lnTo>
                <a:lnTo>
                  <a:pt x="289066" y="187008"/>
                </a:lnTo>
                <a:lnTo>
                  <a:pt x="102658" y="396716"/>
                </a:lnTo>
                <a:cubicBezTo>
                  <a:pt x="97084" y="402908"/>
                  <a:pt x="89606" y="406400"/>
                  <a:pt x="81844" y="406400"/>
                </a:cubicBezTo>
                <a:cubicBezTo>
                  <a:pt x="74083" y="406400"/>
                  <a:pt x="66604" y="402908"/>
                  <a:pt x="61031" y="396716"/>
                </a:cubicBezTo>
                <a:lnTo>
                  <a:pt x="31186" y="363141"/>
                </a:lnTo>
                <a:cubicBezTo>
                  <a:pt x="25682" y="356870"/>
                  <a:pt x="22578" y="348456"/>
                  <a:pt x="22578" y="339725"/>
                </a:cubicBezTo>
                <a:cubicBezTo>
                  <a:pt x="22578" y="330994"/>
                  <a:pt x="25682" y="322580"/>
                  <a:pt x="31186" y="316309"/>
                </a:cubicBez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0" y="31369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视觉特效系统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896600" y="3619500"/>
            <a:ext cx="4381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残影拖尾效果、爆气能量特效、双镜头跟随系统</a:t>
            </a:r>
            <a:endParaRPr lang="en-US" sz="1400" dirty="0"/>
          </a:p>
        </p:txBody>
      </p:sp>
      <p:pic>
        <p:nvPicPr>
          <p:cNvPr id="28" name="Image 0" descr="https://kimi-img.moonshot.cn/pub/slides/okc/wua5fzklftops/mnt/agents/output/ue_fighting_game/images/9E906437-6C9B-4264-98D2-09EA16DAFB2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4762500"/>
            <a:ext cx="14732000" cy="36830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762000" y="4762500"/>
            <a:ext cx="14732000" cy="3683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1" name="Text 28"/>
          <p:cNvSpPr/>
          <p:nvPr/>
        </p:nvSpPr>
        <p:spPr>
          <a:xfrm>
            <a:off x="762000" y="878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</a:t>
            </a:r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02 技术架构  |  03 核心算法  |  04 渲染与体会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4986000" y="87884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蓝图类结构一览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14732000" cy="2540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4" name="Image 0" descr="https://kimi-img.moonshot.cn/pub/slides/okc/wua5fzklftops/mnt/agents/output/ue_fighting_game/images/9E906437-6C9B-4264-98D2-09EA16DAFB2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270000"/>
            <a:ext cx="6858000" cy="5080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1270000"/>
            <a:ext cx="6858000" cy="5080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6413500"/>
            <a:ext cx="685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内容浏览器 — 7个核心蓝图类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270000"/>
          <a:ext cx="7493000" cy="5080000"/>
        </p:xfrm>
        <a:graphic>
          <a:graphicData uri="http://schemas.openxmlformats.org/drawingml/2006/table">
            <a:tbl>
              <a:tblPr/>
              <a:tblGrid>
                <a:gridCol w="2247900"/>
                <a:gridCol w="2622550"/>
                <a:gridCol w="2622550"/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蓝图类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父类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功能职责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AttributeSystem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ActorComponent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HP/MP/能量属性管理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BP_Warrior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Character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角色基类与组件聚合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ComboSystem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ActorComponent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连招/攻击/闪避逻辑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伤害球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Actor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碰撞伤害检测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拳皇mode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GameMode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游戏规则管理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拳皇控制器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PlayerController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P1/P2输入处理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残影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Actor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角色拖尾视觉效果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001000" y="6540500"/>
            <a:ext cx="749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项目采用组件化设计，AttributeSystem和ComboSystem作为ActorComponent挂载到BP_Warrior上，实现属性与战斗逻辑的解耦。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6"/>
          <p:cNvSpPr/>
          <p:nvPr/>
        </p:nvSpPr>
        <p:spPr>
          <a:xfrm>
            <a:off x="762000" y="878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</a:t>
            </a:r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02 技术架构  |  03 核心算法  |  04 渲染与体会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4986000" y="87884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ua5fzklftops/mnt/agents/output/ue_fighting_game/images/5_Video_of_the_Month_Unreal_Eng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94000"/>
                </a:srgbClr>
              </a:gs>
              <a:gs pos="60000">
                <a:srgbClr val="0F1923">
                  <a:alpha val="82000"/>
                </a:srgbClr>
              </a:gs>
              <a:gs pos="100000">
                <a:srgbClr val="0F1923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635000" cy="38100"/>
          </a:xfrm>
          <a:prstGeom prst="rect">
            <a:avLst/>
          </a:prstGeom>
          <a:solidFill>
            <a:srgbClr val="D4773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技术架构与蓝图设计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从蓝图节点看游戏系统的模块化设计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技术架构图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14732000" cy="25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147320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397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引擎层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UE5 渲染管线  +  Chaos 物理引擎  +  输入系统  +  音频系统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74000" y="2286000"/>
            <a:ext cx="0" cy="254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762000" y="2540000"/>
            <a:ext cx="14732000" cy="1016000"/>
          </a:xfrm>
          <a:prstGeom prst="rect">
            <a:avLst/>
          </a:prstGeom>
          <a:solidFill>
            <a:srgbClr val="2A4D73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667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游戏模式层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拳皇mode (GameMode) — 游戏规则管理、胜负判定、场景切换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0" y="3556000"/>
            <a:ext cx="0" cy="254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762000" y="3810000"/>
            <a:ext cx="14732000" cy="1016000"/>
          </a:xfrm>
          <a:prstGeom prst="rect">
            <a:avLst/>
          </a:prstGeom>
          <a:solidFill>
            <a:srgbClr val="3A5D83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937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控制器层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拳皇控制器 (PlayerController) — P1/P2 输入映射、镜头控制、UI交互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74000" y="4826000"/>
            <a:ext cx="0" cy="254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62000" y="5080000"/>
            <a:ext cx="14732000" cy="1270000"/>
          </a:xfrm>
          <a:prstGeom prst="rect">
            <a:avLst/>
          </a:prstGeom>
          <a:solidFill>
            <a:srgbClr val="EDECE8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514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角色层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" y="5588000"/>
            <a:ext cx="2159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5588000"/>
            <a:ext cx="215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BP_Warrior 角色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29000" y="5588000"/>
            <a:ext cx="2159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7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5588000"/>
            <a:ext cx="215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AttributeSystem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42000" y="5588000"/>
            <a:ext cx="2159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7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2000" y="5588000"/>
            <a:ext cx="215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ComboSystem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55000" y="5588000"/>
            <a:ext cx="2159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7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55000" y="5588000"/>
            <a:ext cx="215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伤害检测Box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668000" y="5588000"/>
            <a:ext cx="2159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68000" y="5588000"/>
            <a:ext cx="215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血条UI / 残影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081000" y="5588000"/>
            <a:ext cx="2159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7A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81000" y="5588000"/>
            <a:ext cx="215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镜头 / 音效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74000" y="6350000"/>
            <a:ext cx="0" cy="254000"/>
          </a:xfrm>
          <a:prstGeom prst="straightConnector1">
            <a:avLst/>
          </a:prstGeom>
          <a:noFill/>
          <a:ln w="254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62000" y="6604000"/>
            <a:ext cx="14732000" cy="1016000"/>
          </a:xfrm>
          <a:prstGeom prst="rect">
            <a:avLst/>
          </a:prstGeom>
          <a:solidFill>
            <a:srgbClr val="4A6D93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6731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资源层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动画蒙太奇  +  材质/纹理  +  场景模型  +  音效资源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7810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数据流向：引擎层提供底层能力 → 游戏模式层管理规则 → 控制器层处理输入 → 角色层执行业务逻辑 → 资源层提供资产支持。组件化设计使AttributeSystem和ComboSystem可独立复用。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878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  |  </a:t>
            </a:r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技术架构</a:t>
            </a:r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03 核心算法  |  04 渲染与体会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986000" y="87884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核心角色类 BP_Warrior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14732000" cy="2540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4" name="Image 0" descr="https://kimi-img.moonshot.cn/pub/slides/okc/wua5fzklftops/mnt/agents/output/ue_fighting_game/images/BC372AF0-5E0B-426A-9A8D-BFD953FBC9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270000"/>
            <a:ext cx="7366000" cy="431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1270000"/>
            <a:ext cx="7366000" cy="4318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6515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BP_Warrior 事件图表 — 初始化与Tick更新逻辑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82000" y="1270000"/>
            <a:ext cx="7112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继承关系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BP_Warrior ← Character ← Pawn ← Actor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核心组件体系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CharacterMovement — 角色移动控制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CapsuleComponent — 碰撞体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AttributeSystem — 属性管理组件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ComboSystem — 连招系统组件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Mesh + Shield + Sword — 角色网格与装备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伤害Box — 攻击碰撞检测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SpringArm + Camera — 镜头系统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事件逻辑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BeginPlay → 初始化血条UI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 Tick → 速度检测/残影生成/死亡判定</a:t>
            </a:r>
            <a:endParaRPr lang="en-US" sz="1600" dirty="0"/>
          </a:p>
        </p:txBody>
      </p:sp>
      <p:pic>
        <p:nvPicPr>
          <p:cNvPr id="8" name="Image 1" descr="https://kimi-img.moonshot.cn/pub/slides/okc/wua5fzklftops/mnt/agents/output/ue_fighting_game/images/4CEBE76B-7554-4774-9E99-8B8D469405B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2000" y="6731000"/>
            <a:ext cx="7112000" cy="1651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382000" y="6731000"/>
            <a:ext cx="7112000" cy="1651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382000" y="8445500"/>
            <a:ext cx="711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碰撞检测与攻击反馈逻辑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8"/>
          <p:cNvSpPr/>
          <p:nvPr/>
        </p:nvSpPr>
        <p:spPr>
          <a:xfrm>
            <a:off x="762000" y="878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  |  </a:t>
            </a:r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技术架构</a:t>
            </a:r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03 核心算法  |  04 渲染与体会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4986000" y="87884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连招系统 ComboSystem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14732000" cy="2540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4" name="Image 0" descr="https://kimi-img.moonshot.cn/pub/slides/okc/wua5fzklftops/mnt/agents/output/ue_fighting_game/images/8ADA4C38-F40E-44E1-B9A8-386C5BC4826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270000"/>
            <a:ext cx="7366000" cy="393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1270000"/>
            <a:ext cx="7366000" cy="3937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2705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ComboSystem 事件图表 — 攻击与闪避状态机</a:t>
            </a:r>
            <a:endParaRPr lang="en-US" sz="1400" dirty="0"/>
          </a:p>
        </p:txBody>
      </p:sp>
      <p:pic>
        <p:nvPicPr>
          <p:cNvPr id="7" name="Image 1" descr="https://kimi-img.moonshot.cn/pub/slides/okc/wua5fzklftops/mnt/agents/output/ue_fighting_game/images/E95BE816-0DC7-4E12-A75B-0B4B17AF12A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2000" y="1270000"/>
            <a:ext cx="7112000" cy="3937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82000" y="1270000"/>
            <a:ext cx="7112000" cy="3937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382000" y="5270500"/>
            <a:ext cx="711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ComboSystem 完整攻击/闪避/爆气逻辑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62000" y="5715000"/>
            <a:ext cx="1473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核心状态变量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：Attacking?（攻击状态布尔）| Evasion?（闪避状态布尔）| ComboIndex（连招索引整数）| Explosion?（爆气状态布尔）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动画蒙太奇数组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：重击 AnimMontages（3段）| 轻击 AnimMontages（5段）| 闪避 AnimMontages（4段）| EX轻击/EX重击 AnimMontages（各4段）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战斗循环逻辑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：输入触发 → 状态检测（Attacking?/Evasion?）→ 动画播放（Play Anim Montage）→ 伤害判定 → 状态重置。爆气系统通过MP消耗实现MaxWalkSpeed变速与能量爆发效果。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8"/>
          <p:cNvSpPr/>
          <p:nvPr/>
        </p:nvSpPr>
        <p:spPr>
          <a:xfrm>
            <a:off x="762000" y="878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  |  </a:t>
            </a:r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技术架构</a:t>
            </a:r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03 核心算法  |  04 渲染与体会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4986000" y="87884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Quattrocento Sans"/>
              </a:defRPr>
            </a:pPr>
            <a:r>
              <a:t>Animation Notify &amp; Combo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Quattrocento Sans"/>
              </a:defRPr>
            </a:pPr>
            <a:r>
              <a:t>动画通知与连击控制系统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3474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Quattrocento Sans"/>
              </a:defRPr>
            </a:pPr>
            <a:r>
              <a:t>核心机制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AnimNotify: 在动画时间轴设置通知点(AttackStart/AttackEnd),精确控制攻击判定开关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Combo Window: 攻击动画特定时间段内可输入下一次指令形成连击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bIsAttacking: 布尔变量标记攻击状态,防止动画重复触发和无限连击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Input Buffer: 攻击期间缓存输入,连击窗口开启时自动释放提升手感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ComboCounter: 记录连击段数,驱动不同段数的攻击动画和伤害倍率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3474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Quattrocento Sans"/>
              </a:defRPr>
            </a:pPr>
            <a:r>
              <a:t>实现流程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AnimNotifyState -&gt; NotifyBegin -&gt; Set bIsAttacking=true -&gt; Enable HitBox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NotifyEnd -&gt; Set bIsAttacking=false -&gt; Disable HitBox -&gt; Check ComboQueue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ComboQueue: 窗口期内检测输入键,缓存到队列等待窗口开启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ComboWindow Notify: 触发时检查队列并启动下一段攻击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状态重置: 连击中断或达最大段数时,Counter清零等待新输入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6"/>
                </a:solidFill>
                <a:latin typeface="Quattrocento Sans"/>
              </a:defRPr>
            </a:pPr>
            <a:r>
              <a:t>01 Project Overview | 02 Tech Architecture | 03 Core Algorithms | 04 Rendering | 05 Animation &amp;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5943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A7A96"/>
                </a:solidFill>
                <a:latin typeface="Quattrocento San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属性系统与伤害检测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14732000" cy="2540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4" name="Image 0" descr="https://kimi-img.moonshot.cn/pub/slides/okc/wua5fzklftops/mnt/agents/output/ue_fighting_game/images/57649930-E0CB-4743-A33E-57ECDD1453C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270000"/>
            <a:ext cx="7366000" cy="419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1270000"/>
            <a:ext cx="7366000" cy="4191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55245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AttributeSystem — HP/MP/能量值管理与恢复逻辑</a:t>
            </a:r>
            <a:endParaRPr lang="en-US" sz="1400" dirty="0"/>
          </a:p>
        </p:txBody>
      </p:sp>
      <p:pic>
        <p:nvPicPr>
          <p:cNvPr id="7" name="Image 1" descr="https://kimi-img.moonshot.cn/pub/slides/okc/wua5fzklftops/mnt/agents/output/ue_fighting_game/images/58B595C8-9A24-4FFF-B40F-575D1F532A7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2000" y="1270000"/>
            <a:ext cx="7112000" cy="4191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82000" y="1270000"/>
            <a:ext cx="7112000" cy="4191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382000" y="5524500"/>
            <a:ext cx="711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伤害球 — Capsule碰撞检测与伤害触发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62000" y="5969000"/>
            <a:ext cx="1473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AttributeSystem 属性管理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：HP/MaxHP（生命值）、MP/MaxMP（魔法值）、EnergyValue/MaxEnergyValue（能量值，使用FinterpToConstant实现平滑插值恢复）、isDead（死亡判定）、CanEX（爆气可用判定）。EventTick中通过Sequence节点顺序执行：MP恢复 → 能量恢复 → CanEX条件判断 → 死亡检测。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伤害球碰撞检测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：伤害球Actor挂载Capsule组件，通过OnComponentBeginOverlap事件检测碰撞重叠，Cast To BP_Warrior确认目标类型后触发AttributeSystem的受伤函数，实现伤害计算与HP扣减。招式发出者变量用于区分攻击来源，避免自伤。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8"/>
          <p:cNvSpPr/>
          <p:nvPr/>
        </p:nvSpPr>
        <p:spPr>
          <a:xfrm>
            <a:off x="762000" y="878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  |  </a:t>
            </a:r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技术架构</a:t>
            </a:r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03 核心算法  |  04 渲染与体会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4986000" y="87884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双玩家输入控制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14732000" cy="2540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4" name="Image 0" descr="https://kimi-img.moonshot.cn/pub/slides/okc/wua5fzklftops/mnt/agents/output/ue_fighting_game/images/6FF1040A-6221-40B7-977B-48FDD30CBA7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270000"/>
            <a:ext cx="4826000" cy="330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2000" y="1270000"/>
            <a:ext cx="4826000" cy="3302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000" y="46355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P1移动输入与角色初始化</a:t>
            </a:r>
            <a:endParaRPr lang="en-US" sz="1400" dirty="0"/>
          </a:p>
        </p:txBody>
      </p:sp>
      <p:pic>
        <p:nvPicPr>
          <p:cNvPr id="7" name="Image 1" descr="https://kimi-img.moonshot.cn/pub/slides/okc/wua5fzklftops/mnt/agents/output/ue_fighting_game/images/91FF62BF-907D-43C8-874E-2B1F2CC3E02B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0" y="1270000"/>
            <a:ext cx="4826000" cy="330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0" y="1270000"/>
            <a:ext cx="4826000" cy="3302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15000" y="46355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P2移动输入与镜头控制</a:t>
            </a:r>
            <a:endParaRPr lang="en-US" sz="1400" dirty="0"/>
          </a:p>
        </p:txBody>
      </p:sp>
      <p:pic>
        <p:nvPicPr>
          <p:cNvPr id="10" name="Image 2" descr="https://kimi-img.moonshot.cn/pub/slides/okc/wua5fzklftops/mnt/agents/output/ue_fighting_game/images/09B8C1EC-B7C8-4426-B6E9-472433AAC8C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68000" y="1270000"/>
            <a:ext cx="4826000" cy="33020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0668000" y="1270000"/>
            <a:ext cx="4826000" cy="3302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668000" y="46355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攻击/闪避/爆气动作输入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62000" y="5080000"/>
            <a:ext cx="1473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输入架构设计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拳皇控制器（PlayerController）通过PlayerIndex区分P1（Index=0）和P2（Index=1），确保双玩家输入完全独立。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轴向输入（Axis Mappings）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P1：前后移动 / 左右移动 / 镜头Yaw旋转 / 镜头Pitch旋转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P2：前后移动P2 / 左右移动P2 / 镜头YawP2 / 镜头PitchP2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动作输入（Action Mappings）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轻击 / 重击 / 闪避 / 爆气 — 各自独立映射P1和P2按键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输入通过Branch判断有效性 → GetPlayerCharacter获取角色 → 调用ComboSystem执行战斗逻辑。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0"/>
          <p:cNvSpPr/>
          <p:nvPr/>
        </p:nvSpPr>
        <p:spPr>
          <a:xfrm>
            <a:off x="762000" y="878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  |  </a:t>
            </a:r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技术架构</a:t>
            </a:r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03 核心算法  |  04 渲染与体会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4986000" y="87884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Quattrocento Sans"/>
              </a:defRPr>
            </a:pPr>
            <a:r>
              <a:t>Raycast &amp; Hit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Quattrocento Sans"/>
              </a:defRPr>
            </a:pPr>
            <a:r>
              <a:t>射线检测与命中判定系统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3474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Quattrocento Sans"/>
              </a:defRPr>
            </a:pPr>
            <a:r>
              <a:t>Raycast Mechanism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Line Trace / Raycast: 从武器Socket发射射线检测是否命中目标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Channel Trace: 使用ECC_GameTraceChannel自定义攻击通道区分普通碰撞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FHitResult: 获取命中位置、法线、受击组件、受击Actor等详细信息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ApplyDamage: 命中后调用伤害函数,通过DamageEvent事件链通知受击方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Debug Visualization: DrawDebugLine/Sphere可视化射线轨迹辅助调试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3474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Quattrocento Sans"/>
              </a:defRPr>
            </a:pPr>
            <a:r>
              <a:t>Implementation Details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发射位置: 从武器Socket或骨骼插槽获取世界位置作为射线起点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射线方向: 根据角色朝向GetActorForwardVector加攻击角度偏移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检测范围: 设置合理的射线长度AttackRange和碰撞半径SphereTrace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多目标处理: MultiLineTrace检测多个目标,按距离排序选择最近命中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性能优化: 异步射线检测Async Line Trace避免阻塞主线程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6"/>
                </a:solidFill>
                <a:latin typeface="Quattrocento Sans"/>
              </a:defRPr>
            </a:pPr>
            <a:r>
              <a:t>01 Project Overview | 02 Tech Architecture | 03 Core Algorithms | 04 Rendering | 05 Animation &amp;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5943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A7A96"/>
                </a:solidFill>
                <a:latin typeface="Quattrocento San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ua5fzklftops/mnt/agents/output/ue_fighting_game/images/6_Battle_Arena_Images_Browse_117_620.png">    </p:cNvPr>
          <p:cNvPicPr>
            <a:picLocks noChangeAspect="1"/>
          </p:cNvPicPr>
          <p:nvPr/>
        </p:nvPicPr>
        <p:blipFill>
          <a:blip r:embed="rId1"/>
          <a:srcRect l="233" r="23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94000"/>
                </a:srgbClr>
              </a:gs>
              <a:gs pos="60000">
                <a:srgbClr val="0F1923">
                  <a:alpha val="82000"/>
                </a:srgbClr>
              </a:gs>
              <a:gs pos="100000">
                <a:srgbClr val="0F1923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635000" cy="38100"/>
          </a:xfrm>
          <a:prstGeom prst="rect">
            <a:avLst/>
          </a:prstGeom>
          <a:solidFill>
            <a:srgbClr val="D4773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核心算法原理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游戏图形学与实时渲染中的关键算法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Phong光照模型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14732000" cy="25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14732000" cy="1143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33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Phong Reflection Model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16000" y="1651000"/>
                <a:ext cx="14224000" cy="63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I</m:t>
                      </m:r>
                      <m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sSub>
                        <m:sSubPr>
                          <m:ctrlPr>
                            <a:rPr lang="en-US" sz="14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</m:sub>
                      </m:sSub>
                      <m:sSub>
                        <m:sSubPr>
                          <m:ctrlPr>
                            <a:rPr lang="en-US" sz="14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k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4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∑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</m:sub>
                      </m:sSub>
                      <m:sSub>
                        <m:sSubPr>
                          <m:ctrlPr>
                            <a:rPr lang="en-US" sz="14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[</m:t>
                      </m:r>
                      <m:sSub>
                        <m:sSubPr>
                          <m:ctrlPr>
                            <a:rPr lang="en-US" sz="14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k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L</m:t>
                      </m:r>
                      <m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r>
                        <a:rPr lang="en-US" sz="2000" b="1" i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N</m:t>
                      </m:r>
                      <m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  <m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4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k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2000" b="1" i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R</m:t>
                      </m:r>
                      <m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r>
                        <a:rPr lang="en-US" sz="2000" b="1" i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V</m:t>
                      </m:r>
                      <m:sSup>
                        <m:sSupPr>
                          <m:ctrlPr>
                            <a:rPr lang="en-US" sz="14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4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4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sup>
                      </m:sSup>
                      <m:r>
                        <a:rPr lang="en-US" sz="20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1016000" y="1651000"/>
                <a:ext cx="14224000" cy="63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dirty="0">
                    <a:solidFill>
                      <a:srgbClr val="1A1A1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I = I_a k_a + \sum_{l} I_l \left[ k_d (\mathbf{L} \cdot \mathbf{N}) + k_s (\mathbf{R} \cdot \mathbf{V})^n \right] \)</a:t>
                </a:r>
                <a:endParaRPr lang="en-US" sz="2000" dirty="0"/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762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三项光照分量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31750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0600" y="336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0014" y="-7015"/>
                </a:moveTo>
                <a:cubicBezTo>
                  <a:pt x="114582" y="-9168"/>
                  <a:pt x="119768" y="-8543"/>
                  <a:pt x="123904" y="-5487"/>
                </a:cubicBezTo>
                <a:lnTo>
                  <a:pt x="178109" y="34935"/>
                </a:lnTo>
                <a:lnTo>
                  <a:pt x="232313" y="-5487"/>
                </a:lnTo>
                <a:cubicBezTo>
                  <a:pt x="236449" y="-8543"/>
                  <a:pt x="241635" y="-9098"/>
                  <a:pt x="246204" y="-7015"/>
                </a:cubicBezTo>
                <a:cubicBezTo>
                  <a:pt x="250772" y="-4931"/>
                  <a:pt x="253982" y="-347"/>
                  <a:pt x="254970" y="5070"/>
                </a:cubicBezTo>
                <a:lnTo>
                  <a:pt x="267873" y="76746"/>
                </a:lnTo>
                <a:lnTo>
                  <a:pt x="331585" y="91261"/>
                </a:lnTo>
                <a:cubicBezTo>
                  <a:pt x="336400" y="92373"/>
                  <a:pt x="340475" y="96123"/>
                  <a:pt x="342327" y="101193"/>
                </a:cubicBezTo>
                <a:cubicBezTo>
                  <a:pt x="344179" y="106263"/>
                  <a:pt x="343685" y="112167"/>
                  <a:pt x="340969" y="116820"/>
                </a:cubicBezTo>
                <a:lnTo>
                  <a:pt x="305038" y="177800"/>
                </a:lnTo>
                <a:lnTo>
                  <a:pt x="340969" y="238780"/>
                </a:lnTo>
                <a:cubicBezTo>
                  <a:pt x="343685" y="243433"/>
                  <a:pt x="344179" y="249267"/>
                  <a:pt x="342327" y="254407"/>
                </a:cubicBezTo>
                <a:cubicBezTo>
                  <a:pt x="340475" y="259546"/>
                  <a:pt x="336400" y="263297"/>
                  <a:pt x="331585" y="264339"/>
                </a:cubicBezTo>
                <a:lnTo>
                  <a:pt x="267811" y="278785"/>
                </a:lnTo>
                <a:lnTo>
                  <a:pt x="254970" y="350530"/>
                </a:lnTo>
                <a:cubicBezTo>
                  <a:pt x="253982" y="355947"/>
                  <a:pt x="250649" y="360531"/>
                  <a:pt x="246142" y="362615"/>
                </a:cubicBezTo>
                <a:cubicBezTo>
                  <a:pt x="241635" y="364698"/>
                  <a:pt x="236388" y="364143"/>
                  <a:pt x="232251" y="361087"/>
                </a:cubicBezTo>
                <a:lnTo>
                  <a:pt x="178047" y="320665"/>
                </a:lnTo>
                <a:lnTo>
                  <a:pt x="123843" y="361087"/>
                </a:lnTo>
                <a:cubicBezTo>
                  <a:pt x="119706" y="364143"/>
                  <a:pt x="114520" y="364698"/>
                  <a:pt x="109952" y="362615"/>
                </a:cubicBezTo>
                <a:cubicBezTo>
                  <a:pt x="105384" y="360531"/>
                  <a:pt x="102050" y="355947"/>
                  <a:pt x="101124" y="350530"/>
                </a:cubicBezTo>
                <a:lnTo>
                  <a:pt x="88283" y="278785"/>
                </a:lnTo>
                <a:lnTo>
                  <a:pt x="24509" y="264269"/>
                </a:lnTo>
                <a:cubicBezTo>
                  <a:pt x="19694" y="263158"/>
                  <a:pt x="15619" y="259407"/>
                  <a:pt x="13767" y="254337"/>
                </a:cubicBezTo>
                <a:cubicBezTo>
                  <a:pt x="11915" y="249267"/>
                  <a:pt x="12409" y="243364"/>
                  <a:pt x="15125" y="238710"/>
                </a:cubicBezTo>
                <a:lnTo>
                  <a:pt x="51056" y="177800"/>
                </a:lnTo>
                <a:lnTo>
                  <a:pt x="15125" y="116820"/>
                </a:lnTo>
                <a:cubicBezTo>
                  <a:pt x="12409" y="112167"/>
                  <a:pt x="11915" y="106333"/>
                  <a:pt x="13767" y="101193"/>
                </a:cubicBezTo>
                <a:cubicBezTo>
                  <a:pt x="15619" y="96054"/>
                  <a:pt x="19694" y="92303"/>
                  <a:pt x="24509" y="91261"/>
                </a:cubicBezTo>
                <a:lnTo>
                  <a:pt x="88283" y="76815"/>
                </a:lnTo>
                <a:lnTo>
                  <a:pt x="101185" y="5070"/>
                </a:lnTo>
                <a:cubicBezTo>
                  <a:pt x="102173" y="-347"/>
                  <a:pt x="105507" y="-4931"/>
                  <a:pt x="110014" y="-7015"/>
                </a:cubicBezTo>
                <a:close/>
                <a:moveTo>
                  <a:pt x="128164" y="177800"/>
                </a:moveTo>
                <a:cubicBezTo>
                  <a:pt x="128164" y="157850"/>
                  <a:pt x="137625" y="139416"/>
                  <a:pt x="152982" y="129441"/>
                </a:cubicBezTo>
                <a:cubicBezTo>
                  <a:pt x="168339" y="119466"/>
                  <a:pt x="187261" y="119466"/>
                  <a:pt x="202618" y="129441"/>
                </a:cubicBezTo>
                <a:cubicBezTo>
                  <a:pt x="217975" y="139416"/>
                  <a:pt x="227436" y="157850"/>
                  <a:pt x="227436" y="177800"/>
                </a:cubicBezTo>
                <a:cubicBezTo>
                  <a:pt x="227436" y="208619"/>
                  <a:pt x="205195" y="233640"/>
                  <a:pt x="177800" y="233640"/>
                </a:cubicBezTo>
                <a:cubicBezTo>
                  <a:pt x="150405" y="233640"/>
                  <a:pt x="128164" y="208619"/>
                  <a:pt x="128164" y="177800"/>
                </a:cubicBezTo>
                <a:close/>
                <a:moveTo>
                  <a:pt x="257069" y="177800"/>
                </a:moveTo>
                <a:cubicBezTo>
                  <a:pt x="257069" y="128581"/>
                  <a:pt x="221550" y="88622"/>
                  <a:pt x="177800" y="88622"/>
                </a:cubicBezTo>
                <a:cubicBezTo>
                  <a:pt x="134050" y="88622"/>
                  <a:pt x="98531" y="128581"/>
                  <a:pt x="98531" y="177800"/>
                </a:cubicBezTo>
                <a:cubicBezTo>
                  <a:pt x="98531" y="209660"/>
                  <a:pt x="113639" y="239100"/>
                  <a:pt x="138165" y="255030"/>
                </a:cubicBezTo>
                <a:cubicBezTo>
                  <a:pt x="162691" y="270960"/>
                  <a:pt x="192909" y="270960"/>
                  <a:pt x="217435" y="255030"/>
                </a:cubicBezTo>
                <a:cubicBezTo>
                  <a:pt x="241961" y="239100"/>
                  <a:pt x="257069" y="209660"/>
                  <a:pt x="257069" y="177800"/>
                </a:cubicBezTo>
                <a:close/>
              </a:path>
            </a:pathLst>
          </a:cu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1473200" y="33401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环境光 Ambient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990600" y="3784600"/>
                <a:ext cx="42545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模拟间接光照，与表面方向无关，提供基础亮度 </a:t>
                </a:r>
                <a:pPr algn="l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k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 9"/>
              <p:cNvSpPr/>
              <p:nvPr/>
            </p:nvSpPr>
            <p:spPr>
              <a:xfrm>
                <a:off x="990600" y="3784600"/>
                <a:ext cx="42545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模拟间接光照，与表面方向无关，提供基础亮度 </a:t>
                </a:r>
                <a:pPr algn="l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I_a \cdot k_a \)</a:t>
                </a:r>
                <a:endParaRPr lang="en-US" sz="1400" dirty="0"/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5715000" y="3175000"/>
            <a:ext cx="469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36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71238" y="266700"/>
                </a:moveTo>
                <a:cubicBezTo>
                  <a:pt x="277998" y="251212"/>
                  <a:pt x="291518" y="237182"/>
                  <a:pt x="306798" y="225098"/>
                </a:cubicBezTo>
                <a:cubicBezTo>
                  <a:pt x="337079" y="201206"/>
                  <a:pt x="355600" y="168910"/>
                  <a:pt x="355600" y="133350"/>
                </a:cubicBezTo>
                <a:cubicBezTo>
                  <a:pt x="355600" y="59730"/>
                  <a:pt x="275960" y="0"/>
                  <a:pt x="177800" y="0"/>
                </a:cubicBezTo>
                <a:cubicBezTo>
                  <a:pt x="79640" y="0"/>
                  <a:pt x="0" y="59730"/>
                  <a:pt x="0" y="133350"/>
                </a:cubicBezTo>
                <a:cubicBezTo>
                  <a:pt x="0" y="168910"/>
                  <a:pt x="18521" y="201206"/>
                  <a:pt x="48802" y="225098"/>
                </a:cubicBezTo>
                <a:cubicBezTo>
                  <a:pt x="64082" y="237182"/>
                  <a:pt x="77695" y="251212"/>
                  <a:pt x="84362" y="266700"/>
                </a:cubicBezTo>
                <a:lnTo>
                  <a:pt x="271145" y="266700"/>
                </a:lnTo>
                <a:close/>
                <a:moveTo>
                  <a:pt x="266700" y="300038"/>
                </a:moveTo>
                <a:lnTo>
                  <a:pt x="88900" y="300038"/>
                </a:lnTo>
                <a:lnTo>
                  <a:pt x="88900" y="311150"/>
                </a:lnTo>
                <a:cubicBezTo>
                  <a:pt x="88900" y="341848"/>
                  <a:pt x="122052" y="366712"/>
                  <a:pt x="162983" y="366712"/>
                </a:cubicBezTo>
                <a:lnTo>
                  <a:pt x="192617" y="366712"/>
                </a:lnTo>
                <a:cubicBezTo>
                  <a:pt x="233548" y="366712"/>
                  <a:pt x="266700" y="341848"/>
                  <a:pt x="266700" y="311150"/>
                </a:cubicBezTo>
                <a:lnTo>
                  <a:pt x="266700" y="300038"/>
                </a:lnTo>
                <a:close/>
                <a:moveTo>
                  <a:pt x="170392" y="77788"/>
                </a:moveTo>
                <a:cubicBezTo>
                  <a:pt x="133535" y="77788"/>
                  <a:pt x="103717" y="100151"/>
                  <a:pt x="103717" y="127794"/>
                </a:cubicBezTo>
                <a:cubicBezTo>
                  <a:pt x="103717" y="137031"/>
                  <a:pt x="93808" y="144463"/>
                  <a:pt x="81492" y="144463"/>
                </a:cubicBezTo>
                <a:cubicBezTo>
                  <a:pt x="69175" y="144463"/>
                  <a:pt x="59267" y="137031"/>
                  <a:pt x="59267" y="127794"/>
                </a:cubicBezTo>
                <a:cubicBezTo>
                  <a:pt x="59267" y="81746"/>
                  <a:pt x="108995" y="44450"/>
                  <a:pt x="170392" y="44450"/>
                </a:cubicBezTo>
                <a:cubicBezTo>
                  <a:pt x="182708" y="44450"/>
                  <a:pt x="192617" y="51881"/>
                  <a:pt x="192617" y="61119"/>
                </a:cubicBezTo>
                <a:cubicBezTo>
                  <a:pt x="192617" y="70356"/>
                  <a:pt x="182708" y="77788"/>
                  <a:pt x="170392" y="77788"/>
                </a:cubicBez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200" y="33401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漫反射 Diffuse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5943600" y="3784600"/>
                <a:ext cx="42545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与入射角相关，L·N越大越亮，模拟粗糙表面 </a:t>
                </a:r>
                <a:pPr algn="l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k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d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b="1" i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L</m:t>
                      </m:r>
                      <m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r>
                        <a:rPr lang="en-US" sz="1400" b="1" i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N</m:t>
                      </m:r>
                      <m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 13"/>
              <p:cNvSpPr/>
              <p:nvPr/>
            </p:nvSpPr>
            <p:spPr>
              <a:xfrm>
                <a:off x="5943600" y="3784600"/>
                <a:ext cx="42545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与入射角相关，L·N越大越亮，模拟粗糙表面 </a:t>
                </a:r>
                <a:pPr algn="l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I_l \cdot k_d (\mathbf{L} \cdot \mathbf{N}) \)</a:t>
                </a:r>
                <a:endParaRPr lang="en-US" sz="1400" dirty="0"/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10668000" y="3175000"/>
            <a:ext cx="4826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96600" y="336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1073" y="-13127"/>
                </a:moveTo>
                <a:cubicBezTo>
                  <a:pt x="188542" y="-18683"/>
                  <a:pt x="183418" y="-22225"/>
                  <a:pt x="177862" y="-22225"/>
                </a:cubicBezTo>
                <a:cubicBezTo>
                  <a:pt x="172305" y="-22225"/>
                  <a:pt x="167181" y="-18683"/>
                  <a:pt x="164650" y="-13127"/>
                </a:cubicBezTo>
                <a:lnTo>
                  <a:pt x="119212" y="87025"/>
                </a:lnTo>
                <a:lnTo>
                  <a:pt x="20496" y="104666"/>
                </a:lnTo>
                <a:cubicBezTo>
                  <a:pt x="15002" y="105638"/>
                  <a:pt x="10433" y="110014"/>
                  <a:pt x="8705" y="115987"/>
                </a:cubicBezTo>
                <a:cubicBezTo>
                  <a:pt x="6976" y="121960"/>
                  <a:pt x="8396" y="128488"/>
                  <a:pt x="12285" y="132933"/>
                </a:cubicBezTo>
                <a:lnTo>
                  <a:pt x="82912" y="212457"/>
                </a:lnTo>
                <a:lnTo>
                  <a:pt x="67354" y="323513"/>
                </a:lnTo>
                <a:cubicBezTo>
                  <a:pt x="66490" y="329694"/>
                  <a:pt x="68774" y="335945"/>
                  <a:pt x="73281" y="339626"/>
                </a:cubicBezTo>
                <a:cubicBezTo>
                  <a:pt x="77788" y="343307"/>
                  <a:pt x="83714" y="343862"/>
                  <a:pt x="88715" y="341015"/>
                </a:cubicBezTo>
                <a:lnTo>
                  <a:pt x="177862" y="290036"/>
                </a:lnTo>
                <a:lnTo>
                  <a:pt x="266947" y="341015"/>
                </a:lnTo>
                <a:cubicBezTo>
                  <a:pt x="271886" y="343862"/>
                  <a:pt x="277874" y="343307"/>
                  <a:pt x="282381" y="339626"/>
                </a:cubicBezTo>
                <a:cubicBezTo>
                  <a:pt x="286888" y="335945"/>
                  <a:pt x="289172" y="329763"/>
                  <a:pt x="288308" y="323513"/>
                </a:cubicBezTo>
                <a:lnTo>
                  <a:pt x="272688" y="212457"/>
                </a:lnTo>
                <a:lnTo>
                  <a:pt x="343315" y="132933"/>
                </a:lnTo>
                <a:cubicBezTo>
                  <a:pt x="347266" y="128488"/>
                  <a:pt x="348624" y="121960"/>
                  <a:pt x="346895" y="115987"/>
                </a:cubicBezTo>
                <a:cubicBezTo>
                  <a:pt x="345167" y="110014"/>
                  <a:pt x="340660" y="105638"/>
                  <a:pt x="335104" y="104666"/>
                </a:cubicBezTo>
                <a:lnTo>
                  <a:pt x="236449" y="87025"/>
                </a:lnTo>
                <a:lnTo>
                  <a:pt x="191073" y="-13127"/>
                </a:lnTo>
                <a:close/>
              </a:path>
            </a:pathLst>
          </a:custGeom>
          <a:solidFill>
            <a:srgbClr val="5A7A96"/>
          </a:solidFill>
          <a:ln/>
        </p:spPr>
      </p:sp>
      <p:sp>
        <p:nvSpPr>
          <p:cNvPr id="18" name="Text 16"/>
          <p:cNvSpPr/>
          <p:nvPr/>
        </p:nvSpPr>
        <p:spPr>
          <a:xfrm>
            <a:off x="11379200" y="3340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镜面反射 Specular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10896600" y="3784600"/>
                <a:ext cx="43815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与观察角相关，R·V产生高光，n控制高光锐度 </a:t>
                </a:r>
                <a:pPr algn="l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I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l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sSub>
                        <m:sSubPr>
                          <m:ctrlPr>
                            <a:rPr lang="en-US" sz="10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k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s</m:t>
                          </m:r>
                        </m:sub>
                      </m:sSub>
                      <m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(</m:t>
                      </m:r>
                      <m:r>
                        <a:rPr lang="en-US" sz="1400" b="1" i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R</m:t>
                      </m:r>
                      <m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⋅</m:t>
                      </m:r>
                      <m:r>
                        <a:rPr lang="en-US" sz="1400" b="1" i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m:t>V</m:t>
                      </m:r>
                      <m:sSup>
                        <m:sSupPr>
                          <m:ctrlPr>
                            <a:rPr lang="en-US" sz="10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pPr>
                        <m:e>
                          <m:r>
                            <a:rPr lang="en-US" sz="1000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)</m:t>
                          </m:r>
                        </m:e>
                        <m:sup>
                          <m:r>
                            <a:rPr lang="en-US" sz="1000" i="1" dirty="0">
                              <a:solidFill>
                                <a:srgbClr val="1A1A1A"/>
                              </a:solidFill>
                              <a:latin typeface="Quattrocento Sans" pitchFamily="34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n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9" name="Text 17"/>
              <p:cNvSpPr/>
              <p:nvPr/>
            </p:nvSpPr>
            <p:spPr>
              <a:xfrm>
                <a:off x="10896600" y="3784600"/>
                <a:ext cx="4381500" cy="635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与观察角相关，R·V产生高光，n控制高光锐度 </a:t>
                </a:r>
                <a:pPr algn="l">
                  <a:lnSpc>
                    <a:spcPct val="140000"/>
                  </a:lnSpc>
                </a:pPr>
                <a:r>
                  <a:rPr lang="en-US" sz="1400" dirty="0">
                    <a:solidFill>
                      <a:srgbClr val="1A1A1A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I_l \cdot k_s (\mathbf{R} \cdot \mathbf{V})^n \)</a:t>
                </a:r>
                <a:endParaRPr lang="en-US" sz="1400" dirty="0"/>
              </a:p>
            </p:txBody>
          </p:sp>
        </mc:Fallback>
      </mc:AlternateContent>
      <p:sp>
        <p:nvSpPr>
          <p:cNvPr id="20" name="Text 18"/>
          <p:cNvSpPr/>
          <p:nvPr/>
        </p:nvSpPr>
        <p:spPr>
          <a:xfrm>
            <a:off x="762000" y="469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变量说明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07000"/>
          <a:ext cx="7112000" cy="2921000"/>
        </p:xfrm>
        <a:graphic>
          <a:graphicData uri="http://schemas.openxmlformats.org/drawingml/2006/table">
            <a:tbl>
              <a:tblPr/>
              <a:tblGrid>
                <a:gridCol w="1066800"/>
                <a:gridCol w="2489200"/>
                <a:gridCol w="3556000"/>
              </a:tblGrid>
              <a:tr h="49657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符号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含义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说明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9657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入射光方向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从表面点指向光源的单位向量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57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表面法线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垂直于表面的单位向量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</a:tr>
              <a:tr h="49657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反射方向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 = 2(L·N)N - 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观察方向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从表面点指向相机的单位向量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E8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高光指数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越大高光区域越小越锐利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8255000" y="46990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UE5中的扩展：PBR渲染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虚幻引擎5将Phong模型扩展为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基于物理的渲染（PBR）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，通过Metallic/Roughness工作流实现更真实的材质表现：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Metallic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（金属度）：控制材质是金属（1.0）还是非金属（0.0）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Roughness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（粗糙度）：控制漫反射表面的光滑程度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Color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：材质的基础颜色反射率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：表面法线细节，增强微观表面凹凸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本项目角色材质和场景材质均基于UE5的PBR工作流构建。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1"/>
          <p:cNvSpPr/>
          <p:nvPr/>
        </p:nvSpPr>
        <p:spPr>
          <a:xfrm>
            <a:off x="762000" y="878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  |  02 技术架构  |  </a:t>
            </a:r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核心算法</a:t>
            </a:r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04 渲染与体会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986000" y="87884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BVH加速结构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14732000" cy="25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143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Bounding Volume Hierarchy — 层次包围盒，光线追踪与碰撞检测的核心加速结构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核心思想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95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BVH通过递归地将场景几何体划分为层次化的包围盒树，将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O(n)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的线性遍历复杂度降低到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O(log n)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对于包含N个三角形的场景：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暴力检测：每次查询需要 N 次求交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BVH加速：每次查询仅需约 log₂N 次求交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百万级场景：从 1,000,000 次降至约 20 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构建算法流程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2095500"/>
            <a:ext cx="7112000" cy="6096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8572500" y="2095500"/>
            <a:ext cx="673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计算所有图元的轴对齐包围盒 (AABB)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938000" y="2705100"/>
            <a:ext cx="0" cy="152400"/>
          </a:xfrm>
          <a:prstGeom prst="straightConnector1">
            <a:avLst/>
          </a:prstGeom>
          <a:noFill/>
          <a:ln w="127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8382000" y="2857500"/>
            <a:ext cx="7112000" cy="609600"/>
          </a:xfrm>
          <a:prstGeom prst="rect">
            <a:avLst/>
          </a:prstGeom>
          <a:solidFill>
            <a:srgbClr val="2A4D73"/>
          </a:solidFill>
          <a:ln/>
        </p:spPr>
      </p:sp>
      <p:sp>
        <p:nvSpPr>
          <p:cNvPr id="12" name="Text 10"/>
          <p:cNvSpPr/>
          <p:nvPr/>
        </p:nvSpPr>
        <p:spPr>
          <a:xfrm>
            <a:off x="8572500" y="2857500"/>
            <a:ext cx="673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选择分割轴（AABB最长轴：X/Y/Z）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938000" y="3467100"/>
            <a:ext cx="0" cy="152400"/>
          </a:xfrm>
          <a:prstGeom prst="straightConnector1">
            <a:avLst/>
          </a:prstGeom>
          <a:noFill/>
          <a:ln w="127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382000" y="3619500"/>
            <a:ext cx="7112000" cy="609600"/>
          </a:xfrm>
          <a:prstGeom prst="rect">
            <a:avLst/>
          </a:prstGeom>
          <a:solidFill>
            <a:srgbClr val="3A5D83"/>
          </a:solidFill>
          <a:ln/>
        </p:spPr>
      </p:sp>
      <p:sp>
        <p:nvSpPr>
          <p:cNvPr id="15" name="Text 13"/>
          <p:cNvSpPr/>
          <p:nvPr/>
        </p:nvSpPr>
        <p:spPr>
          <a:xfrm>
            <a:off x="8572500" y="3619500"/>
            <a:ext cx="673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按图元质心在分割轴上排序，中点分割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938000" y="4229100"/>
            <a:ext cx="0" cy="152400"/>
          </a:xfrm>
          <a:prstGeom prst="straightConnector1">
            <a:avLst/>
          </a:prstGeom>
          <a:noFill/>
          <a:ln w="12700">
            <a:solidFill>
              <a:srgbClr val="5A7A96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382000" y="4381500"/>
            <a:ext cx="7112000" cy="609600"/>
          </a:xfrm>
          <a:prstGeom prst="rect">
            <a:avLst/>
          </a:prstGeom>
          <a:solidFill>
            <a:srgbClr val="D4773E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0" y="4381500"/>
            <a:ext cx="673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递归构建左子树和右子树，直到叶节点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2000" y="520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UE5中的应用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5651500"/>
            <a:ext cx="14732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Chaos物理引擎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：UE5的Chaos系统使用BVH变体进行碰撞查询加速。当角色移动或攻击时，引擎通过遍历BVH树快速定位可能发生碰撞的图元对，而非检测所有碰撞体。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光线追踪（Ray Tracing）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：UE5 Lumen全局光照系统使用BVH加速光线-场景求交。从相机发射的光线沿BVH树自上而下遍历，仅在光线与包围盒相交时才进入子节点检测。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项目中的应用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：本项目的伤害检测Box和Capsule碰撞体即基于BVH原理——当攻击触发时，物理引擎通过空间分割结构快速筛选潜在碰撞对象，调用OnComponentBeginOverlap事件完成伤害计算。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878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  |  02 技术架构  |  </a:t>
            </a:r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核心算法</a:t>
            </a:r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04 渲染与体会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986000" y="87884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ua5fzklftops/mnt/agents/output/ue_fighting_game/images/2_41_292_Dark_Arena_Royalty_Free_Images.png">    </p:cNvPr>
          <p:cNvPicPr>
            <a:picLocks noChangeAspect="1"/>
          </p:cNvPicPr>
          <p:nvPr/>
        </p:nvPicPr>
        <p:blipFill>
          <a:blip r:embed="rId1"/>
          <a:srcRect l="8100" r="810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94000"/>
                </a:srgbClr>
              </a:gs>
              <a:gs pos="60000">
                <a:srgbClr val="0F1923">
                  <a:alpha val="82000"/>
                </a:srgbClr>
              </a:gs>
              <a:gs pos="100000">
                <a:srgbClr val="0F1923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Shape 2"/>
          <p:cNvSpPr/>
          <p:nvPr/>
        </p:nvSpPr>
        <p:spPr>
          <a:xfrm>
            <a:off x="762000" y="3556000"/>
            <a:ext cx="635000" cy="38100"/>
          </a:xfrm>
          <a:prstGeom prst="rect">
            <a:avLst/>
          </a:prstGeom>
          <a:solidFill>
            <a:srgbClr val="D4773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810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渲染效果与学习体会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62000" y="4699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游戏视觉效果展示与项目开发心得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Quattrocento Sans"/>
              </a:defRPr>
            </a:pPr>
            <a:r>
              <a:t>Control Rig Hit Reaction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Quattrocento Sans"/>
              </a:defRPr>
            </a:pPr>
            <a:r>
              <a:t>Control Rig 受伤动画实时修正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3474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Quattrocento Sans"/>
              </a:defRPr>
            </a:pPr>
            <a:r>
              <a:t>Control Rig Solution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Control Rig: UE5实时动画控制系统,运行时通过控制点动态调整骨骼变换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Hit Reaction Problem: 传统受击动画朝向可能与攻击来源方向不匹配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Direction Correction: 获取DamageCauser位置,计算攻击方向向量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Dynamic Orientation: 根据攻击方向实时调整Root或Spine骨骼旋转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Physical Feedback: 结合Physical Animation,受击时驱动骨骼物理摆动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303520" cy="3474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Quattrocento Sans"/>
              </a:defRPr>
            </a:pPr>
            <a:r>
              <a:t>Technical Details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Rig Graph: 创建受伤修正Rig,添加Bone节点和Transform控制点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Angle Calculation: LookAtRotation指向攻击来源,限制最大修正角度60度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Smooth Transition: InterpTo/Spring插值避免修正跳变,实现自然转向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Blend Weight: 动画蓝图中设置Control Rig权重与原始动画混合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  <a:latin typeface="Quattrocento Sans"/>
              </a:defRPr>
            </a:pPr>
            <a:r>
              <a:t>Multi-tier Adaptation: 轻击仅上半身晃动,重击全身击退+倒地,不同Rig强度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6"/>
                </a:solidFill>
                <a:latin typeface="Quattrocento Sans"/>
              </a:defRPr>
            </a:pPr>
            <a:r>
              <a:t>01 Project Overview | 02 Tech Architecture | 03 Core Algorithms | 04 Rendering | 05 Animation &amp;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5943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A7A96"/>
                </a:solidFill>
                <a:latin typeface="Quattrocento San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渲染效果展示与学习体会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990600"/>
            <a:ext cx="14732000" cy="25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20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视觉效果展示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4699000" cy="1524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7134" y="324416"/>
                </a:moveTo>
                <a:lnTo>
                  <a:pt x="26763" y="330666"/>
                </a:lnTo>
                <a:cubicBezTo>
                  <a:pt x="23799" y="332403"/>
                  <a:pt x="20188" y="333375"/>
                  <a:pt x="16484" y="333375"/>
                </a:cubicBezTo>
                <a:cubicBezTo>
                  <a:pt x="7408" y="333375"/>
                  <a:pt x="0" y="327819"/>
                  <a:pt x="0" y="321012"/>
                </a:cubicBezTo>
                <a:lnTo>
                  <a:pt x="0" y="133350"/>
                </a:lnTo>
                <a:cubicBezTo>
                  <a:pt x="0" y="59730"/>
                  <a:pt x="79640" y="0"/>
                  <a:pt x="177800" y="0"/>
                </a:cubicBezTo>
                <a:cubicBezTo>
                  <a:pt x="275960" y="0"/>
                  <a:pt x="355600" y="59730"/>
                  <a:pt x="355600" y="133350"/>
                </a:cubicBezTo>
                <a:lnTo>
                  <a:pt x="355600" y="321012"/>
                </a:lnTo>
                <a:cubicBezTo>
                  <a:pt x="355600" y="327819"/>
                  <a:pt x="348192" y="333375"/>
                  <a:pt x="339116" y="333375"/>
                </a:cubicBezTo>
                <a:cubicBezTo>
                  <a:pt x="335412" y="333375"/>
                  <a:pt x="331801" y="332403"/>
                  <a:pt x="328837" y="330666"/>
                </a:cubicBezTo>
                <a:lnTo>
                  <a:pt x="318466" y="324416"/>
                </a:lnTo>
                <a:cubicBezTo>
                  <a:pt x="306057" y="316984"/>
                  <a:pt x="288092" y="318165"/>
                  <a:pt x="277627" y="327124"/>
                </a:cubicBezTo>
                <a:lnTo>
                  <a:pt x="249383" y="351433"/>
                </a:lnTo>
                <a:cubicBezTo>
                  <a:pt x="246327" y="354072"/>
                  <a:pt x="241789" y="355600"/>
                  <a:pt x="237067" y="355600"/>
                </a:cubicBezTo>
                <a:cubicBezTo>
                  <a:pt x="232344" y="355600"/>
                  <a:pt x="227899" y="354072"/>
                  <a:pt x="224750" y="351433"/>
                </a:cubicBezTo>
                <a:lnTo>
                  <a:pt x="200118" y="330250"/>
                </a:lnTo>
                <a:cubicBezTo>
                  <a:pt x="188357" y="320109"/>
                  <a:pt x="167336" y="320109"/>
                  <a:pt x="155482" y="330250"/>
                </a:cubicBezTo>
                <a:lnTo>
                  <a:pt x="130850" y="351433"/>
                </a:lnTo>
                <a:cubicBezTo>
                  <a:pt x="127794" y="354072"/>
                  <a:pt x="123256" y="355600"/>
                  <a:pt x="118533" y="355600"/>
                </a:cubicBezTo>
                <a:cubicBezTo>
                  <a:pt x="113811" y="355600"/>
                  <a:pt x="109366" y="354072"/>
                  <a:pt x="106217" y="351433"/>
                </a:cubicBezTo>
                <a:lnTo>
                  <a:pt x="77973" y="327124"/>
                </a:lnTo>
                <a:cubicBezTo>
                  <a:pt x="67508" y="318165"/>
                  <a:pt x="49543" y="316984"/>
                  <a:pt x="37134" y="324416"/>
                </a:cubicBezTo>
                <a:close/>
                <a:moveTo>
                  <a:pt x="148167" y="133350"/>
                </a:moveTo>
                <a:cubicBezTo>
                  <a:pt x="148167" y="121084"/>
                  <a:pt x="134888" y="111125"/>
                  <a:pt x="118533" y="111125"/>
                </a:cubicBezTo>
                <a:cubicBezTo>
                  <a:pt x="102178" y="111125"/>
                  <a:pt x="88900" y="121084"/>
                  <a:pt x="88900" y="133350"/>
                </a:cubicBezTo>
                <a:cubicBezTo>
                  <a:pt x="88900" y="145616"/>
                  <a:pt x="102178" y="155575"/>
                  <a:pt x="118533" y="155575"/>
                </a:cubicBezTo>
                <a:cubicBezTo>
                  <a:pt x="134888" y="155575"/>
                  <a:pt x="148167" y="145616"/>
                  <a:pt x="148167" y="133350"/>
                </a:cubicBezTo>
                <a:close/>
                <a:moveTo>
                  <a:pt x="237067" y="155575"/>
                </a:moveTo>
                <a:cubicBezTo>
                  <a:pt x="253422" y="155575"/>
                  <a:pt x="266700" y="145616"/>
                  <a:pt x="266700" y="133350"/>
                </a:cubicBezTo>
                <a:cubicBezTo>
                  <a:pt x="266700" y="121084"/>
                  <a:pt x="253422" y="111125"/>
                  <a:pt x="237067" y="111125"/>
                </a:cubicBezTo>
                <a:cubicBezTo>
                  <a:pt x="220712" y="111125"/>
                  <a:pt x="207433" y="121084"/>
                  <a:pt x="207433" y="133350"/>
                </a:cubicBezTo>
                <a:cubicBezTo>
                  <a:pt x="207433" y="145616"/>
                  <a:pt x="220712" y="155575"/>
                  <a:pt x="237067" y="155575"/>
                </a:cubicBez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7" name="Text 5"/>
          <p:cNvSpPr/>
          <p:nvPr/>
        </p:nvSpPr>
        <p:spPr>
          <a:xfrm>
            <a:off x="1473200" y="1816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残影拖尾效果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22606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通过PoseableMesh复制骨骼组件姿势，在角色高速移动时生成拖尾残影，增强视觉冲击力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15000" y="1651000"/>
            <a:ext cx="4699000" cy="1524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7397" y="-18336"/>
                </a:moveTo>
                <a:cubicBezTo>
                  <a:pt x="134779" y="-23753"/>
                  <a:pt x="145653" y="-23545"/>
                  <a:pt x="152718" y="-17711"/>
                </a:cubicBezTo>
                <a:cubicBezTo>
                  <a:pt x="162481" y="-9654"/>
                  <a:pt x="171212" y="-764"/>
                  <a:pt x="179626" y="8265"/>
                </a:cubicBezTo>
                <a:cubicBezTo>
                  <a:pt x="190341" y="19725"/>
                  <a:pt x="203200" y="34865"/>
                  <a:pt x="215583" y="52854"/>
                </a:cubicBezTo>
                <a:cubicBezTo>
                  <a:pt x="219710" y="48131"/>
                  <a:pt x="223520" y="43964"/>
                  <a:pt x="226854" y="40422"/>
                </a:cubicBezTo>
                <a:cubicBezTo>
                  <a:pt x="227727" y="39519"/>
                  <a:pt x="228600" y="38546"/>
                  <a:pt x="229473" y="37574"/>
                </a:cubicBezTo>
                <a:cubicBezTo>
                  <a:pt x="235744" y="30768"/>
                  <a:pt x="243523" y="22225"/>
                  <a:pt x="253921" y="22225"/>
                </a:cubicBezTo>
                <a:cubicBezTo>
                  <a:pt x="264557" y="22225"/>
                  <a:pt x="272018" y="30490"/>
                  <a:pt x="278368" y="37574"/>
                </a:cubicBezTo>
                <a:cubicBezTo>
                  <a:pt x="279400" y="38755"/>
                  <a:pt x="280432" y="39866"/>
                  <a:pt x="281464" y="40908"/>
                </a:cubicBezTo>
                <a:cubicBezTo>
                  <a:pt x="289639" y="49520"/>
                  <a:pt x="300514" y="61952"/>
                  <a:pt x="311388" y="77301"/>
                </a:cubicBezTo>
                <a:cubicBezTo>
                  <a:pt x="332978" y="107791"/>
                  <a:pt x="355521" y="151199"/>
                  <a:pt x="355521" y="199956"/>
                </a:cubicBezTo>
                <a:cubicBezTo>
                  <a:pt x="355521" y="285869"/>
                  <a:pt x="275908" y="355531"/>
                  <a:pt x="177721" y="355531"/>
                </a:cubicBezTo>
                <a:cubicBezTo>
                  <a:pt x="79534" y="355531"/>
                  <a:pt x="0" y="285939"/>
                  <a:pt x="0" y="200025"/>
                </a:cubicBezTo>
                <a:cubicBezTo>
                  <a:pt x="0" y="136753"/>
                  <a:pt x="32623" y="81955"/>
                  <a:pt x="63897" y="43755"/>
                </a:cubicBezTo>
                <a:cubicBezTo>
                  <a:pt x="79693" y="24517"/>
                  <a:pt x="95409" y="9098"/>
                  <a:pt x="107236" y="-1459"/>
                </a:cubicBezTo>
                <a:cubicBezTo>
                  <a:pt x="113744" y="-7293"/>
                  <a:pt x="120333" y="-13057"/>
                  <a:pt x="127476" y="-18266"/>
                </a:cubicBezTo>
                <a:close/>
                <a:moveTo>
                  <a:pt x="179149" y="288925"/>
                </a:moveTo>
                <a:cubicBezTo>
                  <a:pt x="199231" y="288925"/>
                  <a:pt x="217011" y="284063"/>
                  <a:pt x="233759" y="274340"/>
                </a:cubicBezTo>
                <a:cubicBezTo>
                  <a:pt x="267176" y="253921"/>
                  <a:pt x="276146" y="213082"/>
                  <a:pt x="256064" y="180995"/>
                </a:cubicBezTo>
                <a:cubicBezTo>
                  <a:pt x="252492" y="174744"/>
                  <a:pt x="243364" y="174327"/>
                  <a:pt x="238204" y="179606"/>
                </a:cubicBezTo>
                <a:lnTo>
                  <a:pt x="218202" y="199956"/>
                </a:lnTo>
                <a:cubicBezTo>
                  <a:pt x="212963" y="205234"/>
                  <a:pt x="203518" y="205095"/>
                  <a:pt x="198596" y="199608"/>
                </a:cubicBezTo>
                <a:cubicBezTo>
                  <a:pt x="184864" y="184259"/>
                  <a:pt x="159623" y="156270"/>
                  <a:pt x="146764" y="141962"/>
                </a:cubicBezTo>
                <a:cubicBezTo>
                  <a:pt x="142478" y="137170"/>
                  <a:pt x="134699" y="136406"/>
                  <a:pt x="129699" y="140643"/>
                </a:cubicBezTo>
                <a:cubicBezTo>
                  <a:pt x="115173" y="153005"/>
                  <a:pt x="88821" y="180092"/>
                  <a:pt x="88821" y="213082"/>
                </a:cubicBezTo>
                <a:cubicBezTo>
                  <a:pt x="88821" y="260727"/>
                  <a:pt x="128984" y="288925"/>
                  <a:pt x="179070" y="288925"/>
                </a:cubicBez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11" name="Text 9"/>
          <p:cNvSpPr/>
          <p:nvPr/>
        </p:nvSpPr>
        <p:spPr>
          <a:xfrm>
            <a:off x="6426200" y="18161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爆气能量特效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2260600"/>
            <a:ext cx="425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通过材质参数动态调整与粒子系统配合，实现MP消耗时的能量爆发视觉效果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668000" y="1651000"/>
            <a:ext cx="4826000" cy="1524000"/>
          </a:xfrm>
          <a:prstGeom prst="rect">
            <a:avLst/>
          </a:prstGeom>
          <a:solidFill>
            <a:srgbClr val="EDEC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966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9267" y="44450"/>
                </a:moveTo>
                <a:cubicBezTo>
                  <a:pt x="37474" y="44450"/>
                  <a:pt x="19756" y="64383"/>
                  <a:pt x="19756" y="88900"/>
                </a:cubicBezTo>
                <a:lnTo>
                  <a:pt x="19756" y="266700"/>
                </a:lnTo>
                <a:cubicBezTo>
                  <a:pt x="19756" y="291217"/>
                  <a:pt x="37474" y="311150"/>
                  <a:pt x="59267" y="311150"/>
                </a:cubicBezTo>
                <a:lnTo>
                  <a:pt x="217311" y="311150"/>
                </a:lnTo>
                <a:cubicBezTo>
                  <a:pt x="239104" y="311150"/>
                  <a:pt x="256822" y="291217"/>
                  <a:pt x="256822" y="266700"/>
                </a:cubicBezTo>
                <a:lnTo>
                  <a:pt x="256822" y="88900"/>
                </a:lnTo>
                <a:cubicBezTo>
                  <a:pt x="256822" y="64383"/>
                  <a:pt x="239104" y="44450"/>
                  <a:pt x="217311" y="44450"/>
                </a:cubicBezTo>
                <a:lnTo>
                  <a:pt x="59267" y="44450"/>
                </a:lnTo>
                <a:close/>
                <a:moveTo>
                  <a:pt x="286456" y="233363"/>
                </a:moveTo>
                <a:lnTo>
                  <a:pt x="331832" y="274201"/>
                </a:lnTo>
                <a:cubicBezTo>
                  <a:pt x="334425" y="276562"/>
                  <a:pt x="337635" y="277813"/>
                  <a:pt x="340969" y="277813"/>
                </a:cubicBezTo>
                <a:cubicBezTo>
                  <a:pt x="349056" y="277813"/>
                  <a:pt x="355600" y="270450"/>
                  <a:pt x="355600" y="261352"/>
                </a:cubicBezTo>
                <a:lnTo>
                  <a:pt x="355600" y="94248"/>
                </a:lnTo>
                <a:cubicBezTo>
                  <a:pt x="355600" y="85150"/>
                  <a:pt x="349056" y="77788"/>
                  <a:pt x="340969" y="77788"/>
                </a:cubicBezTo>
                <a:cubicBezTo>
                  <a:pt x="337635" y="77788"/>
                  <a:pt x="334425" y="79038"/>
                  <a:pt x="331832" y="81399"/>
                </a:cubicBezTo>
                <a:lnTo>
                  <a:pt x="286456" y="122238"/>
                </a:lnTo>
                <a:lnTo>
                  <a:pt x="286456" y="233363"/>
                </a:lnTo>
                <a:close/>
              </a:path>
            </a:pathLst>
          </a:custGeom>
          <a:solidFill>
            <a:srgbClr val="D4773E"/>
          </a:solidFill>
          <a:ln/>
        </p:spPr>
      </p:sp>
      <p:sp>
        <p:nvSpPr>
          <p:cNvPr id="15" name="Text 13"/>
          <p:cNvSpPr/>
          <p:nvPr/>
        </p:nvSpPr>
        <p:spPr>
          <a:xfrm>
            <a:off x="11379200" y="1816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双镜头跟随系统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96600" y="2260600"/>
            <a:ext cx="438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SpringArm+Camera组件分别为P1/P2提供独立镜头控制，确保对战双方视角清晰</a:t>
            </a:r>
            <a:endParaRPr lang="en-US" sz="1400" dirty="0"/>
          </a:p>
        </p:txBody>
      </p:sp>
      <p:pic>
        <p:nvPicPr>
          <p:cNvPr id="17" name="Image 0" descr="https://kimi-img.moonshot.cn/pub/slides/okc/wua5fzklftops/mnt/agents/output/ue_fighting_game/images/D1A12AB5-395B-4F14-84EC-141FB1BA5FB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3403600"/>
            <a:ext cx="4826000" cy="2921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62000" y="3403600"/>
            <a:ext cx="4826000" cy="2921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2000" y="63881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残影蓝图 — PoseableMesh骨骼复制</a:t>
            </a:r>
            <a:endParaRPr lang="en-US" sz="1400" dirty="0"/>
          </a:p>
        </p:txBody>
      </p:sp>
      <p:pic>
        <p:nvPicPr>
          <p:cNvPr id="20" name="Image 1" descr="https://kimi-img.moonshot.cn/pub/slides/okc/wua5fzklftops/mnt/agents/output/ue_fighting_game/images/053DA8D1-2529-4E71-A4C3-9A9EA7E0C01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0" y="3403600"/>
            <a:ext cx="4826000" cy="29210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715000" y="3403600"/>
            <a:ext cx="4826000" cy="2921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15000" y="63881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双镜头控制系统</a:t>
            </a:r>
            <a:endParaRPr lang="en-US" sz="1400" dirty="0"/>
          </a:p>
        </p:txBody>
      </p:sp>
      <p:pic>
        <p:nvPicPr>
          <p:cNvPr id="23" name="Image 2" descr="https://kimi-img.moonshot.cn/pub/slides/okc/wua5fzklftops/mnt/agents/output/ue_fighting_game/images/0E5FDB5F-A87F-4B7F-857C-06E3278B6EC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68000" y="3403600"/>
            <a:ext cx="4826000" cy="29210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0668000" y="3403600"/>
            <a:ext cx="4826000" cy="2921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668000" y="63881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攻击状态检测逻辑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62000" y="679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学习体会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762000" y="7239000"/>
            <a:ext cx="14732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蓝图可视化编程大幅提升了原型开发效率，事件驱动模型非常适合游戏逻辑表达 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组件化设计（ActorComponent）实现了属性/连招/伤害的解耦，便于独立调试和复用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双玩家输入管理需要注意输入映射的独立性和优先级处理 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游戏开发是系统工程，需要协调动画、音效、UI、物理等多方面的资源配合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4"/>
          <p:cNvSpPr/>
          <p:nvPr/>
        </p:nvSpPr>
        <p:spPr>
          <a:xfrm>
            <a:off x="762000" y="8788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  |  02 技术架构  |  03 核心算法  |  </a:t>
            </a:r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D477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渲染与体会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4986000" y="87884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ua5fzklftops/mnt/agents/output/ue_fighting_game/images/3_Unreal_Engine_5_PC_Game_Develop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923">
                  <a:alpha val="75000"/>
                </a:srgbClr>
              </a:gs>
              <a:gs pos="100000">
                <a:srgbClr val="0F1923">
                  <a:alpha val="94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D4773E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302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感谢观看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048000" y="4254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B0C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虚幻引擎双人对打游戏项目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83000" y="4826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5A7A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基于蓝图可视化编程的格斗游戏开发实践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6604000"/>
            <a:ext cx="14732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6858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UE5 Blueprint | Fighting Game | Phong Lighting | BVH Acceleration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虚幻引擎双人对打游戏开发</dc:title>
  <dc:subject>虚幻引擎双人对打游戏开发</dc:subject>
  <dc:creator>Kimi</dc:creator>
  <cp:lastModifiedBy>Kimi</cp:lastModifiedBy>
  <cp:revision>1</cp:revision>
  <dcterms:created xsi:type="dcterms:W3CDTF">2026-06-20T09:57:02Z</dcterms:created>
  <dcterms:modified xsi:type="dcterms:W3CDTF">2026-06-20T09:57:02Z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虚幻引擎双人对打游戏开发","ContentProducer":"001191110108MACG2KBH8F10000","ProduceID":"19ee46b1-c682-87f0-8000-000040e1c24a","ReservedCode1":"","ContentPropagator":"001191110108MACG2KBH8F20000","PropagateID":"19ee4674-40b2-865c-8000-0964801cf8b6","ReservedCode2":""}</vt:lpwstr>
  </property>
</Properties>
</file>